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Denelle and members of the Stellar leadership team. I am José Alfredo Román Cruz, computer science faculty lead at TecNM Tlaxiaco in Oaxaca, Mexico. Today, on behalf of our university and our student researchers, we present Yucu Protocol. Yucu is an open-source, foundational infrastructure primitive built on Soroban. It delivers what Stellar has uniquely championed from day one: transforming financial access from an abstract promise into mathematical certainty for the most marginalized, resilient producers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our engineering students did not formulate this problem from a laboratory. They traveled directly to San José Xochixtlán, San Pablo Tijaltepec, and Magdalena Peñasco. They documented that indigenous master weavers and coffee farmers perform 90% of the labor, bear 100% of the physical risk, yet retain less than 10% of the economic value. The system is designed to keep them unbanked and dependent. Yucu was engineered to break this extraction cycle through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 was gathered directly by our student researchers in the Mixteca mountains. In the comparative chart on the left, you can see the red bars representing what the producer currently receives: only 7% for a master textile and 18% for specialty coffee. The orange bars represent what the coyote middleman captures. The green bar is what Yucu guarantees: 98% direct payout to the creator and 2% to the communal Tequio fund. Furthermore, our usability testing proved that replacing English text with spoken Mixtec improved elderly completion rates from 12% to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undergraduate student research teams from TecNM Campus Tlaxiaco. In San Juan Mixtepec, they uncovered that elderly palm weavers earn barely $1.00 MXN per hour while urban retailers mark up the products by +1000%. In San José Xochixtlán, an authentic huipil takes 9 months of labor. In San Juan Ñumí, honey harvest records were being lost in old paper notebooks. Yucu was engineered specifically around these empirical field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that Yucu is deeply grounded in human-centered design. Our students brought mobile devices to mountain workshops, timed user tasks with stopwatches, and diagnosed the fear of breaking the phone in a Triqui weaver and an embroiderer from Tijaltepec. That directly drove our 112px tactile design, spoken Mixtec interface, and physical Hang-Tag QR codes that reduce cognitive friction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Stellar has mastered payments and fiat anchors. But to become the global hub for Real-World Assets, the network requires a composable way to attest to physical truth on-chain. Without an attestation registry, every RWA project is forced to reinvent private, fragmented smart contracts. We built the 'EAS of Stellar' on Soroban: an open schema registry that allows any enterprise, cooperative, or audit firm to issue cryptographic attestations that directly govern conditional escrows.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consists of three modular, audited Rust contracts. In FairEscrow.rs, international buyer funds are locked in stablecoins. The contract is cryptographically blind to human pressure: it cannot release payment until AttestationRegistry.rs verifies that the harvest or textile has passed sensory quality and physical reception standards. When secondary resale occurs in a luxury market, PerpetualRoyalties.rs automatically routes 10% back to the original indigenous artisan.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Oaxaca, indigenous communal governance is protected by Article 2 of the Mexican Constitution. We reject the idea that an artificial intelligence model or a smart contract should overrule a community elder. Under our Centaur Model, AI handles technical verification—such as satellite non-deforestation compliance required by the EU—while the master weaver or agricultural elder maintains sovereign authority with their cryptographic signature. Technology honors tradition, rather than displacing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consumer in Lisbon or Tokyo, the experience is instant. They scan the garment tag and listen to the weaver speak in her mother tongue, with the immutable Stellar hash proving this huipil took 9 months of genuine craftsmanship.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financial system requires a 70-year-old indigenous farmer to write down a 24-word English seed phrase, it is exclusionary by design. Yucu makes Web3 completely invisible: the producer speaks in Mixtec, and the funds arrive in pesos without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commercial engine follows the Tech Rebel product methodology. We do not charge the artisans. Our paying clients are European coffee importers and luxury boutiques who face severe regulatory penalties and brand crises if their supply chains lack verifiable proof. Yucu turns compliance into a seamless one-click Soroban transaction, generating sustainable revenue while protecting primary producers.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come before you today with working, tested code. Our test suite executes 52 automated end-to-end tests across cryptography, Soroban contracts, and payment oracles with zero failures. TecNM educates over 40% of all engineers in Mexico. By anchoring this initiative in our university, we are training a permanent cohort of Mexican Rust and Soroban developers dedicated to building public infrastructure for the Stellar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neither outsourced nor speculative: it is the direct creation of over 12 undergraduate computer engineering students from TecNM Campus Tlaxiaco. They traveled to mountain villages, interviewed cooperative leaders, and are writing Soroban smart contracts in Rust. Funding Yucu via Drips and Stellar directly seeds Latin America's next generation of indigenous Web3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we are traveling to Lisbon for HackMeridian with our heads held high. We ask the Stellar Development Foundation to partner with Open Hub TecNM: help us ratify the SEP-RWA standard, feature this project as proof of Soroban's real-world dominance, and support our university engineering hub. Together, let us demonstrate that Stellar is the premier blockchain infrastructure for human dignity, real-world assets, and inclusive global trade.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thank you for building an ecosystem that makes this possible. We invite the Stellar Development Foundation to partner with Open Hub TecNM to make Yucu the global standard for RWA attestations on Soroban.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2517"/>
        </a:solidFill>
      </p:bgPr>
    </p:bg>
    <p:spTree>
      <p:nvGrpSpPr>
        <p:cNvPr id="1" name=""/>
        <p:cNvGrpSpPr/>
        <p:nvPr/>
      </p:nvGrpSpPr>
      <p:grpSpPr>
        <a:xfrm>
          <a:off x="0" y="0"/>
          <a:ext cx="0" cy="0"/>
          <a:chOff x="0" y="0"/>
          <a:chExt cx="0" cy="0"/>
        </a:xfrm>
      </p:grpSpPr>
      <p:sp>
        <p:nvSpPr>
          <p:cNvPr id="2" name="Text 0"/>
          <p:cNvSpPr/>
          <p:nvPr/>
        </p:nvSpPr>
        <p:spPr>
          <a:xfrm>
            <a:off x="731520" y="548640"/>
            <a:ext cx="10515600" cy="365760"/>
          </a:xfrm>
          <a:prstGeom prst="rect">
            <a:avLst/>
          </a:prstGeom>
          <a:noFill/>
          <a:ln/>
        </p:spPr>
        <p:txBody>
          <a:bodyPr wrap="square"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OPEN HUB TecNM · INSTITUTO TECNOLÓGICO DE TLAXIACO (OAXACA, MEXICO)</a:t>
            </a:r>
            <a:endParaRPr lang="en-US" sz="1100" dirty="0"/>
          </a:p>
        </p:txBody>
      </p:sp>
      <p:sp>
        <p:nvSpPr>
          <p:cNvPr id="3" name="Text 1"/>
          <p:cNvSpPr/>
          <p:nvPr/>
        </p:nvSpPr>
        <p:spPr>
          <a:xfrm>
            <a:off x="731520" y="1051560"/>
            <a:ext cx="10515600" cy="100584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RAÍZ PROTOCOL</a:t>
            </a:r>
            <a:endParaRPr lang="en-US" sz="4400" dirty="0"/>
          </a:p>
        </p:txBody>
      </p:sp>
      <p:sp>
        <p:nvSpPr>
          <p:cNvPr id="4" name="Text 2"/>
          <p:cNvSpPr/>
          <p:nvPr/>
        </p:nvSpPr>
        <p:spPr>
          <a:xfrm>
            <a:off x="731520" y="2057400"/>
            <a:ext cx="10515600" cy="594360"/>
          </a:xfrm>
          <a:prstGeom prst="rect">
            <a:avLst/>
          </a:prstGeom>
          <a:noFill/>
          <a:ln/>
        </p:spPr>
        <p:txBody>
          <a:bodyPr wrap="square" rtlCol="0" anchor="ctr"/>
          <a:lstStyle/>
          <a:p>
            <a:pPr indent="0" marL="0">
              <a:buNone/>
            </a:pPr>
            <a:r>
              <a:rPr lang="en-US" sz="1700" dirty="0">
                <a:solidFill>
                  <a:srgbClr val="A7F3D0"/>
                </a:solidFill>
                <a:latin typeface="Arial" pitchFamily="34" charset="0"/>
                <a:ea typeface="Arial" pitchFamily="34" charset="-122"/>
                <a:cs typeface="Arial" pitchFamily="34" charset="-120"/>
              </a:rPr>
              <a:t>Verifiable RWA Attestation Infrastructure &amp; Programmable Fair Escrows on Stellar Soroban</a:t>
            </a:r>
            <a:endParaRPr lang="en-US" sz="1700" dirty="0"/>
          </a:p>
        </p:txBody>
      </p:sp>
      <p:sp>
        <p:nvSpPr>
          <p:cNvPr id="5" name="Shape 3"/>
          <p:cNvSpPr/>
          <p:nvPr/>
        </p:nvSpPr>
        <p:spPr>
          <a:xfrm>
            <a:off x="731520" y="2788920"/>
            <a:ext cx="10515600" cy="36576"/>
          </a:xfrm>
          <a:prstGeom prst="rect">
            <a:avLst/>
          </a:prstGeom>
          <a:solidFill>
            <a:srgbClr val="D97706"/>
          </a:solidFill>
          <a:ln w="12700">
            <a:solidFill>
              <a:srgbClr val="D97706"/>
            </a:solidFill>
            <a:prstDash val="solid"/>
          </a:ln>
        </p:spPr>
      </p:sp>
      <p:sp>
        <p:nvSpPr>
          <p:cNvPr id="6" name="Shape 4"/>
          <p:cNvSpPr/>
          <p:nvPr/>
        </p:nvSpPr>
        <p:spPr>
          <a:xfrm>
            <a:off x="731520" y="3154680"/>
            <a:ext cx="3291840" cy="2240280"/>
          </a:xfrm>
          <a:prstGeom prst="roundRect">
            <a:avLst/>
          </a:prstGeom>
          <a:solidFill>
            <a:srgbClr val="0A3825"/>
          </a:solidFill>
          <a:ln w="19050">
            <a:solidFill>
              <a:srgbClr val="1A543A"/>
            </a:solidFill>
            <a:prstDash val="solid"/>
          </a:ln>
        </p:spPr>
      </p:sp>
      <p:sp>
        <p:nvSpPr>
          <p:cNvPr id="7" name="Text 5"/>
          <p:cNvSpPr/>
          <p:nvPr/>
        </p:nvSpPr>
        <p:spPr>
          <a:xfrm>
            <a:off x="100584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THE MISSING PRIMITIVE</a:t>
            </a:r>
            <a:endParaRPr lang="en-US" sz="1150" dirty="0"/>
          </a:p>
        </p:txBody>
      </p:sp>
      <p:sp>
        <p:nvSpPr>
          <p:cNvPr id="8" name="Text 6"/>
          <p:cNvSpPr/>
          <p:nvPr/>
        </p:nvSpPr>
        <p:spPr>
          <a:xfrm>
            <a:off x="100584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On-chain RWA Attestation Registry for Soroban (EAS equivalent standard).</a:t>
            </a:r>
            <a:endParaRPr lang="en-US" sz="1250" dirty="0"/>
          </a:p>
        </p:txBody>
      </p:sp>
      <p:sp>
        <p:nvSpPr>
          <p:cNvPr id="9" name="Shape 7"/>
          <p:cNvSpPr/>
          <p:nvPr/>
        </p:nvSpPr>
        <p:spPr>
          <a:xfrm>
            <a:off x="4343400" y="3154680"/>
            <a:ext cx="3291840" cy="2240280"/>
          </a:xfrm>
          <a:prstGeom prst="roundRect">
            <a:avLst/>
          </a:prstGeom>
          <a:solidFill>
            <a:srgbClr val="0A3825"/>
          </a:solidFill>
          <a:ln w="19050">
            <a:solidFill>
              <a:srgbClr val="1A543A"/>
            </a:solidFill>
            <a:prstDash val="solid"/>
          </a:ln>
        </p:spPr>
      </p:sp>
      <p:sp>
        <p:nvSpPr>
          <p:cNvPr id="10" name="Text 8"/>
          <p:cNvSpPr/>
          <p:nvPr/>
        </p:nvSpPr>
        <p:spPr>
          <a:xfrm>
            <a:off x="461772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INDIGENOUS IMPACT</a:t>
            </a:r>
            <a:endParaRPr lang="en-US" sz="1150" dirty="0"/>
          </a:p>
        </p:txBody>
      </p:sp>
      <p:sp>
        <p:nvSpPr>
          <p:cNvPr id="11" name="Text 9"/>
          <p:cNvSpPr/>
          <p:nvPr/>
        </p:nvSpPr>
        <p:spPr>
          <a:xfrm>
            <a:off x="461772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Protecting Oaxacan master weavers &amp; coffee farmers from 400% coyote markups.</a:t>
            </a:r>
            <a:endParaRPr lang="en-US" sz="1250" dirty="0"/>
          </a:p>
        </p:txBody>
      </p:sp>
      <p:sp>
        <p:nvSpPr>
          <p:cNvPr id="12" name="Shape 10"/>
          <p:cNvSpPr/>
          <p:nvPr/>
        </p:nvSpPr>
        <p:spPr>
          <a:xfrm>
            <a:off x="7955280" y="3154680"/>
            <a:ext cx="3291840" cy="2240280"/>
          </a:xfrm>
          <a:prstGeom prst="roundRect">
            <a:avLst/>
          </a:prstGeom>
          <a:solidFill>
            <a:srgbClr val="0A3825"/>
          </a:solidFill>
          <a:ln w="19050">
            <a:solidFill>
              <a:srgbClr val="1A543A"/>
            </a:solidFill>
            <a:prstDash val="solid"/>
          </a:ln>
        </p:spPr>
      </p:sp>
      <p:sp>
        <p:nvSpPr>
          <p:cNvPr id="13" name="Text 11"/>
          <p:cNvSpPr/>
          <p:nvPr/>
        </p:nvSpPr>
        <p:spPr>
          <a:xfrm>
            <a:off x="822960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ACADEMIC EXCELLENCE</a:t>
            </a:r>
            <a:endParaRPr lang="en-US" sz="1150" dirty="0"/>
          </a:p>
        </p:txBody>
      </p:sp>
      <p:sp>
        <p:nvSpPr>
          <p:cNvPr id="14" name="Text 12"/>
          <p:cNvSpPr/>
          <p:nvPr/>
        </p:nvSpPr>
        <p:spPr>
          <a:xfrm>
            <a:off x="822960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Engineered &amp; verified by TecNM: Mexico’s largest public engineering university.</a:t>
            </a:r>
            <a:endParaRPr lang="en-US" sz="1250" dirty="0"/>
          </a:p>
        </p:txBody>
      </p:sp>
      <p:sp>
        <p:nvSpPr>
          <p:cNvPr id="15" name="Text 13"/>
          <p:cNvSpPr/>
          <p:nvPr/>
        </p:nvSpPr>
        <p:spPr>
          <a:xfrm>
            <a:off x="731520" y="5852160"/>
            <a:ext cx="10515600" cy="365760"/>
          </a:xfrm>
          <a:prstGeom prst="rect">
            <a:avLst/>
          </a:prstGeom>
          <a:noFill/>
          <a:ln/>
        </p:spPr>
        <p:txBody>
          <a:bodyPr wrap="square" rtlCol="0" anchor="ctr"/>
          <a:lstStyle/>
          <a:p>
            <a:pPr indent="0" marL="0">
              <a:buNone/>
            </a:pPr>
            <a:r>
              <a:rPr lang="en-US" sz="1100" i="1" dirty="0">
                <a:solidFill>
                  <a:srgbClr val="9CA3AF"/>
                </a:solidFill>
                <a:latin typeface="Arial" pitchFamily="34" charset="0"/>
                <a:ea typeface="Arial" pitchFamily="34" charset="-122"/>
                <a:cs typeface="Arial" pitchFamily="34" charset="-120"/>
              </a:rPr>
              <a:t>Prepared for Denelle Dixon &amp; The Stellar Development Foundation (SDF) Leadership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RURAL VALUE EXTRACTION CRISIS</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Structural Market Failure at the Indigenous Agricultural &amp; Artisan Base</a:t>
            </a:r>
            <a:endParaRPr lang="en-US" sz="1400" dirty="0"/>
          </a:p>
        </p:txBody>
      </p:sp>
      <p:sp>
        <p:nvSpPr>
          <p:cNvPr id="4" name="Shape 2"/>
          <p:cNvSpPr/>
          <p:nvPr/>
        </p:nvSpPr>
        <p:spPr>
          <a:xfrm>
            <a:off x="731520" y="1645920"/>
            <a:ext cx="10515600" cy="1234440"/>
          </a:xfrm>
          <a:prstGeom prst="roundRect">
            <a:avLst/>
          </a:prstGeom>
          <a:solidFill>
            <a:srgbClr val="FFFFFF"/>
          </a:solidFill>
          <a:ln w="12700">
            <a:solidFill>
              <a:srgbClr val="E5E7EB"/>
            </a:solidFill>
            <a:prstDash val="solid"/>
          </a:ln>
        </p:spPr>
      </p:sp>
      <p:sp>
        <p:nvSpPr>
          <p:cNvPr id="5" name="Text 3"/>
          <p:cNvSpPr/>
          <p:nvPr/>
        </p:nvSpPr>
        <p:spPr>
          <a:xfrm>
            <a:off x="1005840" y="178308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Predatory Middlemen ("Los Coyotes")</a:t>
            </a:r>
            <a:endParaRPr lang="en-US" sz="1500" dirty="0"/>
          </a:p>
        </p:txBody>
      </p:sp>
      <p:sp>
        <p:nvSpPr>
          <p:cNvPr id="6" name="Shape 4"/>
          <p:cNvSpPr/>
          <p:nvPr/>
        </p:nvSpPr>
        <p:spPr>
          <a:xfrm>
            <a:off x="7772400" y="1783080"/>
            <a:ext cx="3108960" cy="320040"/>
          </a:xfrm>
          <a:prstGeom prst="roundRect">
            <a:avLst/>
          </a:prstGeom>
          <a:solidFill>
            <a:srgbClr val="FEE2E2"/>
          </a:solidFill>
          <a:ln w="12700">
            <a:solidFill>
              <a:srgbClr val="F87171"/>
            </a:solidFill>
            <a:prstDash val="solid"/>
          </a:ln>
        </p:spPr>
      </p:sp>
      <p:sp>
        <p:nvSpPr>
          <p:cNvPr id="7" name="Text 5"/>
          <p:cNvSpPr/>
          <p:nvPr/>
        </p:nvSpPr>
        <p:spPr>
          <a:xfrm>
            <a:off x="7772400" y="178308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400% - 1,000% Markup</a:t>
            </a:r>
            <a:endParaRPr lang="en-US" sz="1100" dirty="0"/>
          </a:p>
        </p:txBody>
      </p:sp>
      <p:sp>
        <p:nvSpPr>
          <p:cNvPr id="8" name="Text 6"/>
          <p:cNvSpPr/>
          <p:nvPr/>
        </p:nvSpPr>
        <p:spPr>
          <a:xfrm>
            <a:off x="1005840" y="214884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Middlemen capture up to 90% of final retail value. A 9-month handwoven textile bought for $15-$25 USD is resold in metropolitan galleries for $300-$600 USD with 0% residual upside returning to the creator.</a:t>
            </a:r>
            <a:endParaRPr lang="en-US" sz="1200" dirty="0"/>
          </a:p>
        </p:txBody>
      </p:sp>
      <p:sp>
        <p:nvSpPr>
          <p:cNvPr id="9" name="Shape 7"/>
          <p:cNvSpPr/>
          <p:nvPr/>
        </p:nvSpPr>
        <p:spPr>
          <a:xfrm>
            <a:off x="731520" y="3063240"/>
            <a:ext cx="10515600" cy="1234440"/>
          </a:xfrm>
          <a:prstGeom prst="roundRect">
            <a:avLst/>
          </a:prstGeom>
          <a:solidFill>
            <a:srgbClr val="FFFFFF"/>
          </a:solidFill>
          <a:ln w="12700">
            <a:solidFill>
              <a:srgbClr val="E5E7EB"/>
            </a:solidFill>
            <a:prstDash val="solid"/>
          </a:ln>
        </p:spPr>
      </p:sp>
      <p:sp>
        <p:nvSpPr>
          <p:cNvPr id="10" name="Text 8"/>
          <p:cNvSpPr/>
          <p:nvPr/>
        </p:nvSpPr>
        <p:spPr>
          <a:xfrm>
            <a:off x="1005840" y="320040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Industrial Piracy &amp; Loss of Provenance</a:t>
            </a:r>
            <a:endParaRPr lang="en-US" sz="1500" dirty="0"/>
          </a:p>
        </p:txBody>
      </p:sp>
      <p:sp>
        <p:nvSpPr>
          <p:cNvPr id="11" name="Shape 9"/>
          <p:cNvSpPr/>
          <p:nvPr/>
        </p:nvSpPr>
        <p:spPr>
          <a:xfrm>
            <a:off x="7772400" y="3200400"/>
            <a:ext cx="3108960" cy="320040"/>
          </a:xfrm>
          <a:prstGeom prst="roundRect">
            <a:avLst/>
          </a:prstGeom>
          <a:solidFill>
            <a:srgbClr val="FEE2E2"/>
          </a:solidFill>
          <a:ln w="12700">
            <a:solidFill>
              <a:srgbClr val="F87171"/>
            </a:solidFill>
            <a:prstDash val="solid"/>
          </a:ln>
        </p:spPr>
      </p:sp>
      <p:sp>
        <p:nvSpPr>
          <p:cNvPr id="12" name="Text 10"/>
          <p:cNvSpPr/>
          <p:nvPr/>
        </p:nvSpPr>
        <p:spPr>
          <a:xfrm>
            <a:off x="7772400" y="320040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Zero Cryptographic Proof</a:t>
            </a:r>
            <a:endParaRPr lang="en-US" sz="1100" dirty="0"/>
          </a:p>
        </p:txBody>
      </p:sp>
      <p:sp>
        <p:nvSpPr>
          <p:cNvPr id="13" name="Text 11"/>
          <p:cNvSpPr/>
          <p:nvPr/>
        </p:nvSpPr>
        <p:spPr>
          <a:xfrm>
            <a:off x="1005840" y="356616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Global fast-fashion and factory imitations cannibalize ancestral designs. Artisans lack verifiable, legally binding certificates of origin to defend their collective heritage against corporate appropriation.</a:t>
            </a:r>
            <a:endParaRPr lang="en-US" sz="1200" dirty="0"/>
          </a:p>
        </p:txBody>
      </p:sp>
      <p:sp>
        <p:nvSpPr>
          <p:cNvPr id="14" name="Shape 12"/>
          <p:cNvSpPr/>
          <p:nvPr/>
        </p:nvSpPr>
        <p:spPr>
          <a:xfrm>
            <a:off x="731520" y="4480560"/>
            <a:ext cx="10515600" cy="1234440"/>
          </a:xfrm>
          <a:prstGeom prst="roundRect">
            <a:avLst/>
          </a:prstGeom>
          <a:solidFill>
            <a:srgbClr val="FFFFFF"/>
          </a:solidFill>
          <a:ln w="12700">
            <a:solidFill>
              <a:srgbClr val="E5E7EB"/>
            </a:solidFill>
            <a:prstDash val="solid"/>
          </a:ln>
        </p:spPr>
      </p:sp>
      <p:sp>
        <p:nvSpPr>
          <p:cNvPr id="15" name="Text 13"/>
          <p:cNvSpPr/>
          <p:nvPr/>
        </p:nvSpPr>
        <p:spPr>
          <a:xfrm>
            <a:off x="1005840" y="461772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The Unbanked Last-Mile Chasm</a:t>
            </a:r>
            <a:endParaRPr lang="en-US" sz="1500" dirty="0"/>
          </a:p>
        </p:txBody>
      </p:sp>
      <p:sp>
        <p:nvSpPr>
          <p:cNvPr id="16" name="Shape 14"/>
          <p:cNvSpPr/>
          <p:nvPr/>
        </p:nvSpPr>
        <p:spPr>
          <a:xfrm>
            <a:off x="7772400" y="4617720"/>
            <a:ext cx="3108960" cy="320040"/>
          </a:xfrm>
          <a:prstGeom prst="roundRect">
            <a:avLst/>
          </a:prstGeom>
          <a:solidFill>
            <a:srgbClr val="FEE2E2"/>
          </a:solidFill>
          <a:ln w="12700">
            <a:solidFill>
              <a:srgbClr val="F87171"/>
            </a:solidFill>
            <a:prstDash val="solid"/>
          </a:ln>
        </p:spPr>
      </p:sp>
      <p:sp>
        <p:nvSpPr>
          <p:cNvPr id="17" name="Text 15"/>
          <p:cNvSpPr/>
          <p:nvPr/>
        </p:nvSpPr>
        <p:spPr>
          <a:xfrm>
            <a:off x="7772400" y="461772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85%+ Without Banking Access</a:t>
            </a:r>
            <a:endParaRPr lang="en-US" sz="1100" dirty="0"/>
          </a:p>
        </p:txBody>
      </p:sp>
      <p:sp>
        <p:nvSpPr>
          <p:cNvPr id="18" name="Text 16"/>
          <p:cNvSpPr/>
          <p:nvPr/>
        </p:nvSpPr>
        <p:spPr>
          <a:xfrm>
            <a:off x="1005840" y="498348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Producers lack bank accounts, tax IDs, credit scoring, or reliable connectivity. Traditional financial institutions deem them unviable, trapping them into predatory cash advances for survival.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EMPIRICAL FIELD AUDIT: WHAT OUR STUDENTS DISCOVERED IN OAXACA</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Field Findings from 50 In-Person Producer Audits Across 4 Mountain Communities (PR #1.1 &amp; Issue #18)</a:t>
            </a:r>
            <a:endParaRPr lang="en-US" sz="1400" dirty="0"/>
          </a:p>
        </p:txBody>
      </p:sp>
      <p:sp>
        <p:nvSpPr>
          <p:cNvPr id="4" name="Shape 2"/>
          <p:cNvSpPr/>
          <p:nvPr/>
        </p:nvSpPr>
        <p:spPr>
          <a:xfrm>
            <a:off x="731520" y="1554480"/>
            <a:ext cx="6035040" cy="4572000"/>
          </a:xfrm>
          <a:prstGeom prst="roundRect">
            <a:avLst/>
          </a:prstGeom>
          <a:solidFill>
            <a:srgbClr val="FFFFFF"/>
          </a:solidFill>
          <a:ln w="12700">
            <a:solidFill>
              <a:srgbClr val="E5E7EB"/>
            </a:solidFill>
            <a:prstDash val="solid"/>
          </a:ln>
        </p:spPr>
      </p:sp>
      <p:sp>
        <p:nvSpPr>
          <p:cNvPr id="5" name="Text 3"/>
          <p:cNvSpPr/>
          <p:nvPr/>
        </p:nvSpPr>
        <p:spPr>
          <a:xfrm>
            <a:off x="914400" y="1691640"/>
            <a:ext cx="5669280" cy="27432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COMMODITY VALUE CHAIN: BEFORE VS. AFTER RAÍZ PROTOCOL</a:t>
            </a:r>
            <a:endParaRPr lang="en-US" sz="1100" dirty="0"/>
          </a:p>
        </p:txBody>
      </p:sp>
      <p:sp>
        <p:nvSpPr>
          <p:cNvPr id="6" name="Shape 4"/>
          <p:cNvSpPr/>
          <p:nvPr/>
        </p:nvSpPr>
        <p:spPr>
          <a:xfrm>
            <a:off x="914400" y="2011680"/>
            <a:ext cx="228600" cy="137160"/>
          </a:xfrm>
          <a:prstGeom prst="roundRect">
            <a:avLst/>
          </a:prstGeom>
          <a:solidFill>
            <a:srgbClr val="DC2626"/>
          </a:solidFill>
          <a:ln/>
        </p:spPr>
      </p:sp>
      <p:sp>
        <p:nvSpPr>
          <p:cNvPr id="7" name="Text 5"/>
          <p:cNvSpPr/>
          <p:nvPr/>
        </p:nvSpPr>
        <p:spPr>
          <a:xfrm>
            <a:off x="11887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Producer Share (Before)</a:t>
            </a:r>
            <a:endParaRPr lang="en-US" sz="850" dirty="0"/>
          </a:p>
        </p:txBody>
      </p:sp>
      <p:sp>
        <p:nvSpPr>
          <p:cNvPr id="8" name="Shape 6"/>
          <p:cNvSpPr/>
          <p:nvPr/>
        </p:nvSpPr>
        <p:spPr>
          <a:xfrm>
            <a:off x="2743200" y="2011680"/>
            <a:ext cx="228600" cy="137160"/>
          </a:xfrm>
          <a:prstGeom prst="roundRect">
            <a:avLst/>
          </a:prstGeom>
          <a:solidFill>
            <a:srgbClr val="F59E0B"/>
          </a:solidFill>
          <a:ln/>
        </p:spPr>
      </p:sp>
      <p:sp>
        <p:nvSpPr>
          <p:cNvPr id="9" name="Text 7"/>
          <p:cNvSpPr/>
          <p:nvPr/>
        </p:nvSpPr>
        <p:spPr>
          <a:xfrm>
            <a:off x="30175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Coyote Markup (Before)</a:t>
            </a:r>
            <a:endParaRPr lang="en-US" sz="850" dirty="0"/>
          </a:p>
        </p:txBody>
      </p:sp>
      <p:sp>
        <p:nvSpPr>
          <p:cNvPr id="10" name="Shape 8"/>
          <p:cNvSpPr/>
          <p:nvPr/>
        </p:nvSpPr>
        <p:spPr>
          <a:xfrm>
            <a:off x="4572000" y="2011680"/>
            <a:ext cx="228600" cy="137160"/>
          </a:xfrm>
          <a:prstGeom prst="roundRect">
            <a:avLst/>
          </a:prstGeom>
          <a:solidFill>
            <a:srgbClr val="10B981"/>
          </a:solidFill>
          <a:ln/>
        </p:spPr>
      </p:sp>
      <p:sp>
        <p:nvSpPr>
          <p:cNvPr id="11" name="Text 9"/>
          <p:cNvSpPr/>
          <p:nvPr/>
        </p:nvSpPr>
        <p:spPr>
          <a:xfrm>
            <a:off x="48463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With Yucu (Soroban)</a:t>
            </a:r>
            <a:endParaRPr lang="en-US" sz="850" dirty="0"/>
          </a:p>
        </p:txBody>
      </p:sp>
      <p:sp>
        <p:nvSpPr>
          <p:cNvPr id="12" name="Text 10"/>
          <p:cNvSpPr/>
          <p:nvPr/>
        </p:nvSpPr>
        <p:spPr>
          <a:xfrm>
            <a:off x="914400" y="2286000"/>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1. Waist-Loom Heirloom Huipil (San José Xochixtlán)</a:t>
            </a:r>
            <a:endParaRPr lang="en-US" sz="950" dirty="0"/>
          </a:p>
        </p:txBody>
      </p:sp>
      <p:sp>
        <p:nvSpPr>
          <p:cNvPr id="13" name="Shape 11"/>
          <p:cNvSpPr/>
          <p:nvPr/>
        </p:nvSpPr>
        <p:spPr>
          <a:xfrm>
            <a:off x="914400" y="2514600"/>
            <a:ext cx="384048" cy="219456"/>
          </a:xfrm>
          <a:prstGeom prst="roundRect">
            <a:avLst/>
          </a:prstGeom>
          <a:solidFill>
            <a:srgbClr val="DC2626"/>
          </a:solidFill>
          <a:ln w="12700">
            <a:solidFill>
              <a:srgbClr val="B91C1C"/>
            </a:solidFill>
            <a:prstDash val="solid"/>
          </a:ln>
        </p:spPr>
      </p:sp>
      <p:sp>
        <p:nvSpPr>
          <p:cNvPr id="14" name="Text 12"/>
          <p:cNvSpPr/>
          <p:nvPr/>
        </p:nvSpPr>
        <p:spPr>
          <a:xfrm>
            <a:off x="914400" y="2514600"/>
            <a:ext cx="38404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7%</a:t>
            </a:r>
            <a:endParaRPr lang="en-US" sz="800" dirty="0"/>
          </a:p>
        </p:txBody>
      </p:sp>
      <p:sp>
        <p:nvSpPr>
          <p:cNvPr id="15" name="Shape 13"/>
          <p:cNvSpPr/>
          <p:nvPr/>
        </p:nvSpPr>
        <p:spPr>
          <a:xfrm>
            <a:off x="1298448" y="2514600"/>
            <a:ext cx="5102352" cy="219456"/>
          </a:xfrm>
          <a:prstGeom prst="roundRect">
            <a:avLst/>
          </a:prstGeom>
          <a:solidFill>
            <a:srgbClr val="F59E0B"/>
          </a:solidFill>
          <a:ln w="12700">
            <a:solidFill>
              <a:srgbClr val="D97706"/>
            </a:solidFill>
            <a:prstDash val="solid"/>
          </a:ln>
        </p:spPr>
      </p:sp>
      <p:sp>
        <p:nvSpPr>
          <p:cNvPr id="16" name="Text 14"/>
          <p:cNvSpPr/>
          <p:nvPr/>
        </p:nvSpPr>
        <p:spPr>
          <a:xfrm>
            <a:off x="1298448" y="2514600"/>
            <a:ext cx="510235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93%</a:t>
            </a:r>
            <a:endParaRPr lang="en-US" sz="800" dirty="0"/>
          </a:p>
        </p:txBody>
      </p:sp>
      <p:sp>
        <p:nvSpPr>
          <p:cNvPr id="17" name="Shape 15"/>
          <p:cNvSpPr/>
          <p:nvPr/>
        </p:nvSpPr>
        <p:spPr>
          <a:xfrm>
            <a:off x="914400" y="2770632"/>
            <a:ext cx="5376672" cy="219456"/>
          </a:xfrm>
          <a:prstGeom prst="roundRect">
            <a:avLst/>
          </a:prstGeom>
          <a:solidFill>
            <a:srgbClr val="10B981"/>
          </a:solidFill>
          <a:ln w="12700">
            <a:solidFill>
              <a:srgbClr val="059669"/>
            </a:solidFill>
            <a:prstDash val="solid"/>
          </a:ln>
        </p:spPr>
      </p:sp>
      <p:sp>
        <p:nvSpPr>
          <p:cNvPr id="18" name="Text 16"/>
          <p:cNvSpPr/>
          <p:nvPr/>
        </p:nvSpPr>
        <p:spPr>
          <a:xfrm>
            <a:off x="914400" y="2770632"/>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Yucu Protocol: 98% Direct to Producer</a:t>
            </a:r>
            <a:endParaRPr lang="en-US" sz="800" dirty="0"/>
          </a:p>
        </p:txBody>
      </p:sp>
      <p:sp>
        <p:nvSpPr>
          <p:cNvPr id="19" name="Shape 17"/>
          <p:cNvSpPr/>
          <p:nvPr/>
        </p:nvSpPr>
        <p:spPr>
          <a:xfrm>
            <a:off x="6291072" y="2770632"/>
            <a:ext cx="201168" cy="219456"/>
          </a:xfrm>
          <a:prstGeom prst="roundRect">
            <a:avLst/>
          </a:prstGeom>
          <a:solidFill>
            <a:srgbClr val="D97706"/>
          </a:solidFill>
          <a:ln w="12700">
            <a:solidFill>
              <a:srgbClr val="D97706"/>
            </a:solidFill>
            <a:prstDash val="solid"/>
          </a:ln>
        </p:spPr>
      </p:sp>
      <p:sp>
        <p:nvSpPr>
          <p:cNvPr id="20" name="Text 18"/>
          <p:cNvSpPr/>
          <p:nvPr/>
        </p:nvSpPr>
        <p:spPr>
          <a:xfrm>
            <a:off x="914400" y="3218688"/>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2. Specialty Coffee Pergamino (Magdalena Peñasco)</a:t>
            </a:r>
            <a:endParaRPr lang="en-US" sz="950" dirty="0"/>
          </a:p>
        </p:txBody>
      </p:sp>
      <p:sp>
        <p:nvSpPr>
          <p:cNvPr id="21" name="Shape 19"/>
          <p:cNvSpPr/>
          <p:nvPr/>
        </p:nvSpPr>
        <p:spPr>
          <a:xfrm>
            <a:off x="914400" y="3447288"/>
            <a:ext cx="987552" cy="219456"/>
          </a:xfrm>
          <a:prstGeom prst="roundRect">
            <a:avLst/>
          </a:prstGeom>
          <a:solidFill>
            <a:srgbClr val="DC2626"/>
          </a:solidFill>
          <a:ln w="12700">
            <a:solidFill>
              <a:srgbClr val="B91C1C"/>
            </a:solidFill>
            <a:prstDash val="solid"/>
          </a:ln>
        </p:spPr>
      </p:sp>
      <p:sp>
        <p:nvSpPr>
          <p:cNvPr id="22" name="Text 20"/>
          <p:cNvSpPr/>
          <p:nvPr/>
        </p:nvSpPr>
        <p:spPr>
          <a:xfrm>
            <a:off x="914400" y="3447288"/>
            <a:ext cx="98755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18%</a:t>
            </a:r>
            <a:endParaRPr lang="en-US" sz="800" dirty="0"/>
          </a:p>
        </p:txBody>
      </p:sp>
      <p:sp>
        <p:nvSpPr>
          <p:cNvPr id="23" name="Shape 21"/>
          <p:cNvSpPr/>
          <p:nvPr/>
        </p:nvSpPr>
        <p:spPr>
          <a:xfrm>
            <a:off x="1901952" y="3447288"/>
            <a:ext cx="4498848" cy="219456"/>
          </a:xfrm>
          <a:prstGeom prst="roundRect">
            <a:avLst/>
          </a:prstGeom>
          <a:solidFill>
            <a:srgbClr val="F59E0B"/>
          </a:solidFill>
          <a:ln w="12700">
            <a:solidFill>
              <a:srgbClr val="D97706"/>
            </a:solidFill>
            <a:prstDash val="solid"/>
          </a:ln>
        </p:spPr>
      </p:sp>
      <p:sp>
        <p:nvSpPr>
          <p:cNvPr id="24" name="Text 22"/>
          <p:cNvSpPr/>
          <p:nvPr/>
        </p:nvSpPr>
        <p:spPr>
          <a:xfrm>
            <a:off x="1901952" y="3447288"/>
            <a:ext cx="449884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82%</a:t>
            </a:r>
            <a:endParaRPr lang="en-US" sz="800" dirty="0"/>
          </a:p>
        </p:txBody>
      </p:sp>
      <p:sp>
        <p:nvSpPr>
          <p:cNvPr id="25" name="Shape 23"/>
          <p:cNvSpPr/>
          <p:nvPr/>
        </p:nvSpPr>
        <p:spPr>
          <a:xfrm>
            <a:off x="914400" y="3703320"/>
            <a:ext cx="5376672" cy="219456"/>
          </a:xfrm>
          <a:prstGeom prst="roundRect">
            <a:avLst/>
          </a:prstGeom>
          <a:solidFill>
            <a:srgbClr val="10B981"/>
          </a:solidFill>
          <a:ln w="12700">
            <a:solidFill>
              <a:srgbClr val="059669"/>
            </a:solidFill>
            <a:prstDash val="solid"/>
          </a:ln>
        </p:spPr>
      </p:sp>
      <p:sp>
        <p:nvSpPr>
          <p:cNvPr id="26" name="Text 24"/>
          <p:cNvSpPr/>
          <p:nvPr/>
        </p:nvSpPr>
        <p:spPr>
          <a:xfrm>
            <a:off x="914400" y="3703320"/>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Yucu Protocol: 98% Direct to Producer</a:t>
            </a:r>
            <a:endParaRPr lang="en-US" sz="800" dirty="0"/>
          </a:p>
        </p:txBody>
      </p:sp>
      <p:sp>
        <p:nvSpPr>
          <p:cNvPr id="27" name="Shape 25"/>
          <p:cNvSpPr/>
          <p:nvPr/>
        </p:nvSpPr>
        <p:spPr>
          <a:xfrm>
            <a:off x="6291072" y="3703320"/>
            <a:ext cx="201168" cy="219456"/>
          </a:xfrm>
          <a:prstGeom prst="roundRect">
            <a:avLst/>
          </a:prstGeom>
          <a:solidFill>
            <a:srgbClr val="D97706"/>
          </a:solidFill>
          <a:ln w="12700">
            <a:solidFill>
              <a:srgbClr val="D97706"/>
            </a:solidFill>
            <a:prstDash val="solid"/>
          </a:ln>
        </p:spPr>
      </p:sp>
      <p:sp>
        <p:nvSpPr>
          <p:cNvPr id="28" name="Text 26"/>
          <p:cNvSpPr/>
          <p:nvPr/>
        </p:nvSpPr>
        <p:spPr>
          <a:xfrm>
            <a:off x="914400" y="4151376"/>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3. Ancestral Wild Agave Mezcal (Yautepec)</a:t>
            </a:r>
            <a:endParaRPr lang="en-US" sz="950" dirty="0"/>
          </a:p>
        </p:txBody>
      </p:sp>
      <p:sp>
        <p:nvSpPr>
          <p:cNvPr id="29" name="Shape 27"/>
          <p:cNvSpPr/>
          <p:nvPr/>
        </p:nvSpPr>
        <p:spPr>
          <a:xfrm>
            <a:off x="914400" y="4379976"/>
            <a:ext cx="1207008" cy="219456"/>
          </a:xfrm>
          <a:prstGeom prst="roundRect">
            <a:avLst/>
          </a:prstGeom>
          <a:solidFill>
            <a:srgbClr val="DC2626"/>
          </a:solidFill>
          <a:ln w="12700">
            <a:solidFill>
              <a:srgbClr val="B91C1C"/>
            </a:solidFill>
            <a:prstDash val="solid"/>
          </a:ln>
        </p:spPr>
      </p:sp>
      <p:sp>
        <p:nvSpPr>
          <p:cNvPr id="30" name="Text 28"/>
          <p:cNvSpPr/>
          <p:nvPr/>
        </p:nvSpPr>
        <p:spPr>
          <a:xfrm>
            <a:off x="914400" y="4379976"/>
            <a:ext cx="120700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22%</a:t>
            </a:r>
            <a:endParaRPr lang="en-US" sz="800" dirty="0"/>
          </a:p>
        </p:txBody>
      </p:sp>
      <p:sp>
        <p:nvSpPr>
          <p:cNvPr id="31" name="Shape 29"/>
          <p:cNvSpPr/>
          <p:nvPr/>
        </p:nvSpPr>
        <p:spPr>
          <a:xfrm>
            <a:off x="2121408" y="4379976"/>
            <a:ext cx="4279392" cy="219456"/>
          </a:xfrm>
          <a:prstGeom prst="roundRect">
            <a:avLst/>
          </a:prstGeom>
          <a:solidFill>
            <a:srgbClr val="F59E0B"/>
          </a:solidFill>
          <a:ln w="12700">
            <a:solidFill>
              <a:srgbClr val="D97706"/>
            </a:solidFill>
            <a:prstDash val="solid"/>
          </a:ln>
        </p:spPr>
      </p:sp>
      <p:sp>
        <p:nvSpPr>
          <p:cNvPr id="32" name="Text 30"/>
          <p:cNvSpPr/>
          <p:nvPr/>
        </p:nvSpPr>
        <p:spPr>
          <a:xfrm>
            <a:off x="2121408" y="4379976"/>
            <a:ext cx="427939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78%</a:t>
            </a:r>
            <a:endParaRPr lang="en-US" sz="800" dirty="0"/>
          </a:p>
        </p:txBody>
      </p:sp>
      <p:sp>
        <p:nvSpPr>
          <p:cNvPr id="33" name="Shape 31"/>
          <p:cNvSpPr/>
          <p:nvPr/>
        </p:nvSpPr>
        <p:spPr>
          <a:xfrm>
            <a:off x="914400" y="4636008"/>
            <a:ext cx="5376672" cy="219456"/>
          </a:xfrm>
          <a:prstGeom prst="roundRect">
            <a:avLst/>
          </a:prstGeom>
          <a:solidFill>
            <a:srgbClr val="10B981"/>
          </a:solidFill>
          <a:ln w="12700">
            <a:solidFill>
              <a:srgbClr val="059669"/>
            </a:solidFill>
            <a:prstDash val="solid"/>
          </a:ln>
        </p:spPr>
      </p:sp>
      <p:sp>
        <p:nvSpPr>
          <p:cNvPr id="34" name="Text 32"/>
          <p:cNvSpPr/>
          <p:nvPr/>
        </p:nvSpPr>
        <p:spPr>
          <a:xfrm>
            <a:off x="914400" y="4636008"/>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Yucu Protocol: 98% Direct to Producer</a:t>
            </a:r>
            <a:endParaRPr lang="en-US" sz="800" dirty="0"/>
          </a:p>
        </p:txBody>
      </p:sp>
      <p:sp>
        <p:nvSpPr>
          <p:cNvPr id="35" name="Shape 33"/>
          <p:cNvSpPr/>
          <p:nvPr/>
        </p:nvSpPr>
        <p:spPr>
          <a:xfrm>
            <a:off x="6291072" y="4636008"/>
            <a:ext cx="201168" cy="219456"/>
          </a:xfrm>
          <a:prstGeom prst="roundRect">
            <a:avLst/>
          </a:prstGeom>
          <a:solidFill>
            <a:srgbClr val="D97706"/>
          </a:solidFill>
          <a:ln w="12700">
            <a:solidFill>
              <a:srgbClr val="D97706"/>
            </a:solidFill>
            <a:prstDash val="solid"/>
          </a:ln>
        </p:spPr>
      </p:sp>
      <p:sp>
        <p:nvSpPr>
          <p:cNvPr id="36" name="Text 34"/>
          <p:cNvSpPr/>
          <p:nvPr/>
        </p:nvSpPr>
        <p:spPr>
          <a:xfrm>
            <a:off x="914400" y="5084064"/>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4. Virgin Campanilla Honey (Comité Apícola)</a:t>
            </a:r>
            <a:endParaRPr lang="en-US" sz="950" dirty="0"/>
          </a:p>
        </p:txBody>
      </p:sp>
      <p:sp>
        <p:nvSpPr>
          <p:cNvPr id="37" name="Shape 35"/>
          <p:cNvSpPr/>
          <p:nvPr/>
        </p:nvSpPr>
        <p:spPr>
          <a:xfrm>
            <a:off x="914400" y="5312664"/>
            <a:ext cx="1371600" cy="219456"/>
          </a:xfrm>
          <a:prstGeom prst="roundRect">
            <a:avLst/>
          </a:prstGeom>
          <a:solidFill>
            <a:srgbClr val="DC2626"/>
          </a:solidFill>
          <a:ln w="12700">
            <a:solidFill>
              <a:srgbClr val="B91C1C"/>
            </a:solidFill>
            <a:prstDash val="solid"/>
          </a:ln>
        </p:spPr>
      </p:sp>
      <p:sp>
        <p:nvSpPr>
          <p:cNvPr id="38" name="Text 36"/>
          <p:cNvSpPr/>
          <p:nvPr/>
        </p:nvSpPr>
        <p:spPr>
          <a:xfrm>
            <a:off x="914400" y="5312664"/>
            <a:ext cx="1371600"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25%</a:t>
            </a:r>
            <a:endParaRPr lang="en-US" sz="800" dirty="0"/>
          </a:p>
        </p:txBody>
      </p:sp>
      <p:sp>
        <p:nvSpPr>
          <p:cNvPr id="39" name="Shape 37"/>
          <p:cNvSpPr/>
          <p:nvPr/>
        </p:nvSpPr>
        <p:spPr>
          <a:xfrm>
            <a:off x="2286000" y="5312664"/>
            <a:ext cx="4114800" cy="219456"/>
          </a:xfrm>
          <a:prstGeom prst="roundRect">
            <a:avLst/>
          </a:prstGeom>
          <a:solidFill>
            <a:srgbClr val="F59E0B"/>
          </a:solidFill>
          <a:ln w="12700">
            <a:solidFill>
              <a:srgbClr val="D97706"/>
            </a:solidFill>
            <a:prstDash val="solid"/>
          </a:ln>
        </p:spPr>
      </p:sp>
      <p:sp>
        <p:nvSpPr>
          <p:cNvPr id="40" name="Text 38"/>
          <p:cNvSpPr/>
          <p:nvPr/>
        </p:nvSpPr>
        <p:spPr>
          <a:xfrm>
            <a:off x="2286000" y="5312664"/>
            <a:ext cx="4114800"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75%</a:t>
            </a:r>
            <a:endParaRPr lang="en-US" sz="800" dirty="0"/>
          </a:p>
        </p:txBody>
      </p:sp>
      <p:sp>
        <p:nvSpPr>
          <p:cNvPr id="41" name="Shape 39"/>
          <p:cNvSpPr/>
          <p:nvPr/>
        </p:nvSpPr>
        <p:spPr>
          <a:xfrm>
            <a:off x="914400" y="5568696"/>
            <a:ext cx="5376672" cy="219456"/>
          </a:xfrm>
          <a:prstGeom prst="roundRect">
            <a:avLst/>
          </a:prstGeom>
          <a:solidFill>
            <a:srgbClr val="10B981"/>
          </a:solidFill>
          <a:ln w="12700">
            <a:solidFill>
              <a:srgbClr val="059669"/>
            </a:solidFill>
            <a:prstDash val="solid"/>
          </a:ln>
        </p:spPr>
      </p:sp>
      <p:sp>
        <p:nvSpPr>
          <p:cNvPr id="42" name="Text 40"/>
          <p:cNvSpPr/>
          <p:nvPr/>
        </p:nvSpPr>
        <p:spPr>
          <a:xfrm>
            <a:off x="914400" y="5568696"/>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Yucu Protocol: 98% Direct to Producer</a:t>
            </a:r>
            <a:endParaRPr lang="en-US" sz="800" dirty="0"/>
          </a:p>
        </p:txBody>
      </p:sp>
      <p:sp>
        <p:nvSpPr>
          <p:cNvPr id="43" name="Shape 41"/>
          <p:cNvSpPr/>
          <p:nvPr/>
        </p:nvSpPr>
        <p:spPr>
          <a:xfrm>
            <a:off x="6291072" y="5568696"/>
            <a:ext cx="201168" cy="219456"/>
          </a:xfrm>
          <a:prstGeom prst="roundRect">
            <a:avLst/>
          </a:prstGeom>
          <a:solidFill>
            <a:srgbClr val="D97706"/>
          </a:solidFill>
          <a:ln w="12700">
            <a:solidFill>
              <a:srgbClr val="D97706"/>
            </a:solidFill>
            <a:prstDash val="solid"/>
          </a:ln>
        </p:spPr>
      </p:sp>
      <p:sp>
        <p:nvSpPr>
          <p:cNvPr id="44" name="Shape 42"/>
          <p:cNvSpPr/>
          <p:nvPr/>
        </p:nvSpPr>
        <p:spPr>
          <a:xfrm>
            <a:off x="7040880" y="1554480"/>
            <a:ext cx="4389120" cy="1417320"/>
          </a:xfrm>
          <a:prstGeom prst="roundRect">
            <a:avLst/>
          </a:prstGeom>
          <a:solidFill>
            <a:srgbClr val="FFFFFF"/>
          </a:solidFill>
          <a:ln w="12700">
            <a:solidFill>
              <a:srgbClr val="E5E7EB"/>
            </a:solidFill>
            <a:prstDash val="solid"/>
          </a:ln>
        </p:spPr>
      </p:sp>
      <p:sp>
        <p:nvSpPr>
          <p:cNvPr id="45" name="Shape 43"/>
          <p:cNvSpPr/>
          <p:nvPr/>
        </p:nvSpPr>
        <p:spPr>
          <a:xfrm>
            <a:off x="7223760" y="1664208"/>
            <a:ext cx="2560320" cy="256032"/>
          </a:xfrm>
          <a:prstGeom prst="roundRect">
            <a:avLst/>
          </a:prstGeom>
          <a:solidFill>
            <a:srgbClr val="FEE2E2"/>
          </a:solidFill>
          <a:ln w="12700">
            <a:solidFill>
              <a:srgbClr val="FEE2E2"/>
            </a:solidFill>
            <a:prstDash val="solid"/>
          </a:ln>
        </p:spPr>
      </p:sp>
      <p:sp>
        <p:nvSpPr>
          <p:cNvPr id="46" name="Text 44"/>
          <p:cNvSpPr/>
          <p:nvPr/>
        </p:nvSpPr>
        <p:spPr>
          <a:xfrm>
            <a:off x="7223760" y="1664208"/>
            <a:ext cx="2560320" cy="256032"/>
          </a:xfrm>
          <a:prstGeom prst="rect">
            <a:avLst/>
          </a:prstGeom>
          <a:noFill/>
          <a:ln/>
        </p:spPr>
        <p:txBody>
          <a:bodyPr wrap="square" rtlCol="0" anchor="ctr"/>
          <a:lstStyle/>
          <a:p>
            <a:pPr algn="ctr" indent="0" marL="0">
              <a:buNone/>
            </a:pPr>
            <a:r>
              <a:rPr lang="en-US" sz="900" b="1" dirty="0">
                <a:solidFill>
                  <a:srgbClr val="991B1B"/>
                </a:solidFill>
                <a:latin typeface="Arial" pitchFamily="34" charset="0"/>
                <a:ea typeface="Arial" pitchFamily="34" charset="-122"/>
                <a:cs typeface="Arial" pitchFamily="34" charset="-120"/>
              </a:rPr>
              <a:t>THE 93% EXTRACTION SHOCK</a:t>
            </a:r>
            <a:endParaRPr lang="en-US" sz="900" dirty="0"/>
          </a:p>
        </p:txBody>
      </p:sp>
      <p:sp>
        <p:nvSpPr>
          <p:cNvPr id="47" name="Text 45"/>
          <p:cNvSpPr/>
          <p:nvPr/>
        </p:nvSpPr>
        <p:spPr>
          <a:xfrm>
            <a:off x="7223760" y="1965960"/>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Waist-Loom Heirloom Textiles</a:t>
            </a:r>
            <a:endParaRPr lang="en-US" sz="1200" dirty="0"/>
          </a:p>
        </p:txBody>
      </p:sp>
      <p:sp>
        <p:nvSpPr>
          <p:cNvPr id="48" name="Text 46"/>
          <p:cNvSpPr/>
          <p:nvPr/>
        </p:nvSpPr>
        <p:spPr>
          <a:xfrm>
            <a:off x="7223760" y="2267712"/>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Artisans invest 7-9 months of hand labor to receive ~$60 USD ($1,200 MXN) from local coyotes. The piece is resold in metropolitan luxury boutiques for ~$900 USD ($18,000 MXN)—middlemen capture 93% of gross value.</a:t>
            </a:r>
            <a:endParaRPr lang="en-US" sz="1000" dirty="0"/>
          </a:p>
        </p:txBody>
      </p:sp>
      <p:sp>
        <p:nvSpPr>
          <p:cNvPr id="49" name="Shape 47"/>
          <p:cNvSpPr/>
          <p:nvPr/>
        </p:nvSpPr>
        <p:spPr>
          <a:xfrm>
            <a:off x="7040880" y="3090672"/>
            <a:ext cx="4389120" cy="1417320"/>
          </a:xfrm>
          <a:prstGeom prst="roundRect">
            <a:avLst/>
          </a:prstGeom>
          <a:solidFill>
            <a:srgbClr val="FFFFFF"/>
          </a:solidFill>
          <a:ln w="12700">
            <a:solidFill>
              <a:srgbClr val="E5E7EB"/>
            </a:solidFill>
            <a:prstDash val="solid"/>
          </a:ln>
        </p:spPr>
      </p:sp>
      <p:sp>
        <p:nvSpPr>
          <p:cNvPr id="50" name="Shape 48"/>
          <p:cNvSpPr/>
          <p:nvPr/>
        </p:nvSpPr>
        <p:spPr>
          <a:xfrm>
            <a:off x="7223760" y="3200400"/>
            <a:ext cx="2560320" cy="256032"/>
          </a:xfrm>
          <a:prstGeom prst="roundRect">
            <a:avLst/>
          </a:prstGeom>
          <a:solidFill>
            <a:srgbClr val="DCFCE7"/>
          </a:solidFill>
          <a:ln w="12700">
            <a:solidFill>
              <a:srgbClr val="DCFCE7"/>
            </a:solidFill>
            <a:prstDash val="solid"/>
          </a:ln>
        </p:spPr>
      </p:sp>
      <p:sp>
        <p:nvSpPr>
          <p:cNvPr id="51" name="Text 49"/>
          <p:cNvSpPr/>
          <p:nvPr/>
        </p:nvSpPr>
        <p:spPr>
          <a:xfrm>
            <a:off x="7223760" y="3200400"/>
            <a:ext cx="2560320" cy="256032"/>
          </a:xfrm>
          <a:prstGeom prst="rect">
            <a:avLst/>
          </a:prstGeom>
          <a:noFill/>
          <a:ln/>
        </p:spPr>
        <p:txBody>
          <a:bodyPr wrap="square" rtlCol="0" anchor="ctr"/>
          <a:lstStyle/>
          <a:p>
            <a:pPr algn="ctr" indent="0" marL="0">
              <a:buNone/>
            </a:pPr>
            <a:r>
              <a:rPr lang="en-US" sz="900" b="1" dirty="0">
                <a:solidFill>
                  <a:srgbClr val="166534"/>
                </a:solidFill>
                <a:latin typeface="Arial" pitchFamily="34" charset="0"/>
                <a:ea typeface="Arial" pitchFamily="34" charset="-122"/>
                <a:cs typeface="Arial" pitchFamily="34" charset="-120"/>
              </a:rPr>
              <a:t>ACOUSTIC USABILITY BREAKTHROUGH</a:t>
            </a:r>
            <a:endParaRPr lang="en-US" sz="900" dirty="0"/>
          </a:p>
        </p:txBody>
      </p:sp>
      <p:sp>
        <p:nvSpPr>
          <p:cNvPr id="52" name="Text 50"/>
          <p:cNvSpPr/>
          <p:nvPr/>
        </p:nvSpPr>
        <p:spPr>
          <a:xfrm>
            <a:off x="7223760" y="3502152"/>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Voice UI in Tu’un Savi vs. Typing</a:t>
            </a:r>
            <a:endParaRPr lang="en-US" sz="1200" dirty="0"/>
          </a:p>
        </p:txBody>
      </p:sp>
      <p:sp>
        <p:nvSpPr>
          <p:cNvPr id="53" name="Text 51"/>
          <p:cNvSpPr/>
          <p:nvPr/>
        </p:nvSpPr>
        <p:spPr>
          <a:xfrm>
            <a:off x="7223760" y="3803904"/>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88% of elderly producers failed on standard mobile banking apps due to typing barriers or fear of error. With Yucu’s 112px acoustic voice button, 96% completed their harvest record in &lt;4 seconds without assistance.</a:t>
            </a:r>
            <a:endParaRPr lang="en-US" sz="1000" dirty="0"/>
          </a:p>
        </p:txBody>
      </p:sp>
      <p:sp>
        <p:nvSpPr>
          <p:cNvPr id="54" name="Shape 52"/>
          <p:cNvSpPr/>
          <p:nvPr/>
        </p:nvSpPr>
        <p:spPr>
          <a:xfrm>
            <a:off x="7040880" y="4626864"/>
            <a:ext cx="4389120" cy="1417320"/>
          </a:xfrm>
          <a:prstGeom prst="roundRect">
            <a:avLst/>
          </a:prstGeom>
          <a:solidFill>
            <a:srgbClr val="FFFFFF"/>
          </a:solidFill>
          <a:ln w="12700">
            <a:solidFill>
              <a:srgbClr val="E5E7EB"/>
            </a:solidFill>
            <a:prstDash val="solid"/>
          </a:ln>
        </p:spPr>
      </p:sp>
      <p:sp>
        <p:nvSpPr>
          <p:cNvPr id="55" name="Shape 53"/>
          <p:cNvSpPr/>
          <p:nvPr/>
        </p:nvSpPr>
        <p:spPr>
          <a:xfrm>
            <a:off x="7223760" y="4736592"/>
            <a:ext cx="2560320" cy="256032"/>
          </a:xfrm>
          <a:prstGeom prst="roundRect">
            <a:avLst/>
          </a:prstGeom>
          <a:solidFill>
            <a:srgbClr val="FEF3C7"/>
          </a:solidFill>
          <a:ln w="12700">
            <a:solidFill>
              <a:srgbClr val="FEF3C7"/>
            </a:solidFill>
            <a:prstDash val="solid"/>
          </a:ln>
        </p:spPr>
      </p:sp>
      <p:sp>
        <p:nvSpPr>
          <p:cNvPr id="56" name="Text 54"/>
          <p:cNvSpPr/>
          <p:nvPr/>
        </p:nvSpPr>
        <p:spPr>
          <a:xfrm>
            <a:off x="7223760" y="4736592"/>
            <a:ext cx="2560320" cy="256032"/>
          </a:xfrm>
          <a:prstGeom prst="rect">
            <a:avLst/>
          </a:prstGeom>
          <a:noFill/>
          <a:ln/>
        </p:spPr>
        <p:txBody>
          <a:bodyPr wrap="square" rtlCol="0" anchor="ctr"/>
          <a:lstStyle/>
          <a:p>
            <a:pPr algn="ctr" indent="0" marL="0">
              <a:buNone/>
            </a:pPr>
            <a:r>
              <a:rPr lang="en-US" sz="900" b="1" dirty="0">
                <a:solidFill>
                  <a:srgbClr val="92400E"/>
                </a:solidFill>
                <a:latin typeface="Arial" pitchFamily="34" charset="0"/>
                <a:ea typeface="Arial" pitchFamily="34" charset="-122"/>
                <a:cs typeface="Arial" pitchFamily="34" charset="-120"/>
              </a:rPr>
              <a:t>100% DEMAND FOR PROVENANCE</a:t>
            </a:r>
            <a:endParaRPr lang="en-US" sz="900" dirty="0"/>
          </a:p>
        </p:txBody>
      </p:sp>
      <p:sp>
        <p:nvSpPr>
          <p:cNvPr id="57" name="Text 55"/>
          <p:cNvSpPr/>
          <p:nvPr/>
        </p:nvSpPr>
        <p:spPr>
          <a:xfrm>
            <a:off x="7223760" y="5038344"/>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Physical Hang-Tag Authentication</a:t>
            </a:r>
            <a:endParaRPr lang="en-US" sz="1200" dirty="0"/>
          </a:p>
        </p:txBody>
      </p:sp>
      <p:sp>
        <p:nvSpPr>
          <p:cNvPr id="58" name="Text 56"/>
          <p:cNvSpPr/>
          <p:nvPr/>
        </p:nvSpPr>
        <p:spPr>
          <a:xfrm>
            <a:off x="7223760" y="5340096"/>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100% of surveyed artisans demanded physical ISO/IEC 18004 hang-tags to defend their work against Chinese factory counterfeits and prove their collective community authorship under Mexican law.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STUDENT FIELD RESEARCH: GROUND-TRUTH FINDINGS IN OAXACA</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Undergraduate Student-Researchers at TecNM Campus Tlaxiaco Validating Exploitation on the Ground (PRs #31, #38, #41)</a:t>
            </a:r>
            <a:endParaRPr lang="en-US" sz="1400" dirty="0"/>
          </a:p>
        </p:txBody>
      </p:sp>
      <p:sp>
        <p:nvSpPr>
          <p:cNvPr id="4" name="Shape 2"/>
          <p:cNvSpPr/>
          <p:nvPr/>
        </p:nvSpPr>
        <p:spPr>
          <a:xfrm>
            <a:off x="731520" y="1554480"/>
            <a:ext cx="2560320" cy="4663440"/>
          </a:xfrm>
          <a:prstGeom prst="roundRect">
            <a:avLst/>
          </a:prstGeom>
          <a:solidFill>
            <a:srgbClr val="FFFFFF"/>
          </a:solidFill>
          <a:ln w="12700">
            <a:solidFill>
              <a:srgbClr val="E5E7EB"/>
            </a:solidFill>
            <a:prstDash val="solid"/>
          </a:ln>
        </p:spPr>
      </p:sp>
      <p:sp>
        <p:nvSpPr>
          <p:cNvPr id="5" name="Shape 3"/>
          <p:cNvSpPr/>
          <p:nvPr/>
        </p:nvSpPr>
        <p:spPr>
          <a:xfrm>
            <a:off x="868680" y="1691640"/>
            <a:ext cx="2286000" cy="274320"/>
          </a:xfrm>
          <a:prstGeom prst="roundRect">
            <a:avLst/>
          </a:prstGeom>
          <a:solidFill>
            <a:srgbClr val="FEE2E2"/>
          </a:solidFill>
          <a:ln w="12700">
            <a:solidFill>
              <a:srgbClr val="FEE2E2"/>
            </a:solidFill>
            <a:prstDash val="solid"/>
          </a:ln>
        </p:spPr>
      </p:sp>
      <p:sp>
        <p:nvSpPr>
          <p:cNvPr id="6" name="Text 4"/>
          <p:cNvSpPr/>
          <p:nvPr/>
        </p:nvSpPr>
        <p:spPr>
          <a:xfrm>
            <a:off x="868680" y="1691640"/>
            <a:ext cx="2286000" cy="274320"/>
          </a:xfrm>
          <a:prstGeom prst="rect">
            <a:avLst/>
          </a:prstGeom>
          <a:noFill/>
          <a:ln/>
        </p:spPr>
        <p:txBody>
          <a:bodyPr wrap="square" rtlCol="0" anchor="ctr"/>
          <a:lstStyle/>
          <a:p>
            <a:pPr algn="ctr" indent="0" marL="0">
              <a:buNone/>
            </a:pPr>
            <a:r>
              <a:rPr lang="en-US" sz="950" b="1" dirty="0">
                <a:solidFill>
                  <a:srgbClr val="991B1B"/>
                </a:solidFill>
                <a:latin typeface="Arial" pitchFamily="34" charset="0"/>
                <a:ea typeface="Arial" pitchFamily="34" charset="-122"/>
                <a:cs typeface="Arial" pitchFamily="34" charset="-120"/>
              </a:rPr>
              <a:t>SAN JUAN MIXTEPEC</a:t>
            </a:r>
            <a:endParaRPr lang="en-US" sz="950" dirty="0"/>
          </a:p>
        </p:txBody>
      </p:sp>
      <p:sp>
        <p:nvSpPr>
          <p:cNvPr id="7" name="Text 5"/>
          <p:cNvSpPr/>
          <p:nvPr/>
        </p:nvSpPr>
        <p:spPr>
          <a:xfrm>
            <a:off x="86868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Handwoven Palm Hats &amp; Baskets (Brahea dulcis)</a:t>
            </a:r>
            <a:endParaRPr lang="en-US" sz="1100" dirty="0"/>
          </a:p>
        </p:txBody>
      </p:sp>
      <p:sp>
        <p:nvSpPr>
          <p:cNvPr id="8" name="Text 6"/>
          <p:cNvSpPr/>
          <p:nvPr/>
        </p:nvSpPr>
        <p:spPr>
          <a:xfrm>
            <a:off x="86868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Jazlynn Barrios, Isaías López, Rafael Ayala, Alex Victoria (7th Sem.)</a:t>
            </a:r>
            <a:endParaRPr lang="en-US" sz="850" dirty="0"/>
          </a:p>
        </p:txBody>
      </p:sp>
      <p:sp>
        <p:nvSpPr>
          <p:cNvPr id="9" name="Shape 7"/>
          <p:cNvSpPr/>
          <p:nvPr/>
        </p:nvSpPr>
        <p:spPr>
          <a:xfrm>
            <a:off x="868680" y="3063240"/>
            <a:ext cx="2286000" cy="0"/>
          </a:xfrm>
          <a:prstGeom prst="line">
            <a:avLst/>
          </a:prstGeom>
          <a:noFill/>
          <a:ln w="12700">
            <a:solidFill>
              <a:srgbClr val="E5E7EB"/>
            </a:solidFill>
            <a:prstDash val="solid"/>
          </a:ln>
        </p:spPr>
      </p:sp>
      <p:sp>
        <p:nvSpPr>
          <p:cNvPr id="10" name="Text 8"/>
          <p:cNvSpPr/>
          <p:nvPr/>
        </p:nvSpPr>
        <p:spPr>
          <a:xfrm>
            <a:off x="86868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11" name="Text 9"/>
          <p:cNvSpPr/>
          <p:nvPr/>
        </p:nvSpPr>
        <p:spPr>
          <a:xfrm>
            <a:off x="86868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15 hrs of labor per piece. Middlemen pay $15 to $30 MXN ($1.00 to $2.00 MXN / hour).</a:t>
            </a:r>
            <a:endParaRPr lang="en-US" sz="850" dirty="0"/>
          </a:p>
        </p:txBody>
      </p:sp>
      <p:sp>
        <p:nvSpPr>
          <p:cNvPr id="12" name="Text 10"/>
          <p:cNvSpPr/>
          <p:nvPr/>
        </p:nvSpPr>
        <p:spPr>
          <a:xfrm>
            <a:off x="86868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13" name="Text 11"/>
          <p:cNvSpPr/>
          <p:nvPr/>
        </p:nvSpPr>
        <p:spPr>
          <a:xfrm>
            <a:off x="86868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Urban retail resells at $150-$300 MXN (+1000% markup). Severe joint deformity &amp; vision loss.</a:t>
            </a:r>
            <a:endParaRPr lang="en-US" sz="850" dirty="0"/>
          </a:p>
        </p:txBody>
      </p:sp>
      <p:sp>
        <p:nvSpPr>
          <p:cNvPr id="14" name="Shape 12"/>
          <p:cNvSpPr/>
          <p:nvPr/>
        </p:nvSpPr>
        <p:spPr>
          <a:xfrm>
            <a:off x="868680" y="5120640"/>
            <a:ext cx="2286000" cy="960120"/>
          </a:xfrm>
          <a:prstGeom prst="roundRect">
            <a:avLst/>
          </a:prstGeom>
          <a:solidFill>
            <a:srgbClr val="F9FAFB"/>
          </a:solidFill>
          <a:ln w="12700">
            <a:solidFill>
              <a:srgbClr val="E5E7EB"/>
            </a:solidFill>
            <a:prstDash val="solid"/>
          </a:ln>
        </p:spPr>
      </p:sp>
      <p:sp>
        <p:nvSpPr>
          <p:cNvPr id="15" name="Text 13"/>
          <p:cNvSpPr/>
          <p:nvPr/>
        </p:nvSpPr>
        <p:spPr>
          <a:xfrm>
            <a:off x="91440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“They tell us: ‘Take $20 pesos or leave it’... we take it just to buy tortillas for today.”</a:t>
            </a:r>
            <a:endParaRPr lang="en-US" sz="800" dirty="0"/>
          </a:p>
        </p:txBody>
      </p:sp>
      <p:sp>
        <p:nvSpPr>
          <p:cNvPr id="16" name="Shape 14"/>
          <p:cNvSpPr/>
          <p:nvPr/>
        </p:nvSpPr>
        <p:spPr>
          <a:xfrm>
            <a:off x="3429000" y="1554480"/>
            <a:ext cx="2560320" cy="4663440"/>
          </a:xfrm>
          <a:prstGeom prst="roundRect">
            <a:avLst/>
          </a:prstGeom>
          <a:solidFill>
            <a:srgbClr val="FFFFFF"/>
          </a:solidFill>
          <a:ln w="12700">
            <a:solidFill>
              <a:srgbClr val="E5E7EB"/>
            </a:solidFill>
            <a:prstDash val="solid"/>
          </a:ln>
        </p:spPr>
      </p:sp>
      <p:sp>
        <p:nvSpPr>
          <p:cNvPr id="17" name="Shape 15"/>
          <p:cNvSpPr/>
          <p:nvPr/>
        </p:nvSpPr>
        <p:spPr>
          <a:xfrm>
            <a:off x="3566160" y="1691640"/>
            <a:ext cx="2286000" cy="274320"/>
          </a:xfrm>
          <a:prstGeom prst="roundRect">
            <a:avLst/>
          </a:prstGeom>
          <a:solidFill>
            <a:srgbClr val="FEF3C7"/>
          </a:solidFill>
          <a:ln w="12700">
            <a:solidFill>
              <a:srgbClr val="FEF3C7"/>
            </a:solidFill>
            <a:prstDash val="solid"/>
          </a:ln>
        </p:spPr>
      </p:sp>
      <p:sp>
        <p:nvSpPr>
          <p:cNvPr id="18" name="Text 16"/>
          <p:cNvSpPr/>
          <p:nvPr/>
        </p:nvSpPr>
        <p:spPr>
          <a:xfrm>
            <a:off x="3566160" y="1691640"/>
            <a:ext cx="2286000" cy="274320"/>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SAN JOSÉ XOCHIXTLÁN</a:t>
            </a:r>
            <a:endParaRPr lang="en-US" sz="950" dirty="0"/>
          </a:p>
        </p:txBody>
      </p:sp>
      <p:sp>
        <p:nvSpPr>
          <p:cNvPr id="19" name="Text 17"/>
          <p:cNvSpPr/>
          <p:nvPr/>
        </p:nvSpPr>
        <p:spPr>
          <a:xfrm>
            <a:off x="356616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Ancestral Triqui Huipil on Backstrap Loom</a:t>
            </a:r>
            <a:endParaRPr lang="en-US" sz="1100" dirty="0"/>
          </a:p>
        </p:txBody>
      </p:sp>
      <p:sp>
        <p:nvSpPr>
          <p:cNvPr id="20" name="Text 18"/>
          <p:cNvSpPr/>
          <p:nvPr/>
        </p:nvSpPr>
        <p:spPr>
          <a:xfrm>
            <a:off x="356616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Charlie Jared Castro, Dulce Maetzy Reyes, Brayan Pérez, José Manuel Hernández (5th Sem.)</a:t>
            </a:r>
            <a:endParaRPr lang="en-US" sz="850" dirty="0"/>
          </a:p>
        </p:txBody>
      </p:sp>
      <p:sp>
        <p:nvSpPr>
          <p:cNvPr id="21" name="Shape 19"/>
          <p:cNvSpPr/>
          <p:nvPr/>
        </p:nvSpPr>
        <p:spPr>
          <a:xfrm>
            <a:off x="3566160" y="3063240"/>
            <a:ext cx="2286000" cy="0"/>
          </a:xfrm>
          <a:prstGeom prst="line">
            <a:avLst/>
          </a:prstGeom>
          <a:noFill/>
          <a:ln w="12700">
            <a:solidFill>
              <a:srgbClr val="E5E7EB"/>
            </a:solidFill>
            <a:prstDash val="solid"/>
          </a:ln>
        </p:spPr>
      </p:sp>
      <p:sp>
        <p:nvSpPr>
          <p:cNvPr id="22" name="Text 20"/>
          <p:cNvSpPr/>
          <p:nvPr/>
        </p:nvSpPr>
        <p:spPr>
          <a:xfrm>
            <a:off x="356616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23" name="Text 21"/>
          <p:cNvSpPr/>
          <p:nvPr/>
        </p:nvSpPr>
        <p:spPr>
          <a:xfrm>
            <a:off x="356616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6 to 9 months of continuous weaving (~180 hrs). Artisan finances $2,500 MXN of materials.</a:t>
            </a:r>
            <a:endParaRPr lang="en-US" sz="850" dirty="0"/>
          </a:p>
        </p:txBody>
      </p:sp>
      <p:sp>
        <p:nvSpPr>
          <p:cNvPr id="24" name="Text 22"/>
          <p:cNvSpPr/>
          <p:nvPr/>
        </p:nvSpPr>
        <p:spPr>
          <a:xfrm>
            <a:off x="356616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25" name="Text 23"/>
          <p:cNvSpPr/>
          <p:nvPr/>
        </p:nvSpPr>
        <p:spPr>
          <a:xfrm>
            <a:off x="356616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Months of delayed payments, haggling down to $8,000 MXN, and industrial counterfeiting.</a:t>
            </a:r>
            <a:endParaRPr lang="en-US" sz="850" dirty="0"/>
          </a:p>
        </p:txBody>
      </p:sp>
      <p:sp>
        <p:nvSpPr>
          <p:cNvPr id="26" name="Shape 24"/>
          <p:cNvSpPr/>
          <p:nvPr/>
        </p:nvSpPr>
        <p:spPr>
          <a:xfrm>
            <a:off x="3566160" y="5120640"/>
            <a:ext cx="2286000" cy="960120"/>
          </a:xfrm>
          <a:prstGeom prst="roundRect">
            <a:avLst/>
          </a:prstGeom>
          <a:solidFill>
            <a:srgbClr val="F9FAFB"/>
          </a:solidFill>
          <a:ln w="12700">
            <a:solidFill>
              <a:srgbClr val="E5E7EB"/>
            </a:solidFill>
            <a:prstDash val="solid"/>
          </a:ln>
        </p:spPr>
      </p:sp>
      <p:sp>
        <p:nvSpPr>
          <p:cNvPr id="27" name="Text 25"/>
          <p:cNvSpPr/>
          <p:nvPr/>
        </p:nvSpPr>
        <p:spPr>
          <a:xfrm>
            <a:off x="361188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“Clients commission huipiles and force me to wait weeks or months to receive my money.”</a:t>
            </a:r>
            <a:endParaRPr lang="en-US" sz="800" dirty="0"/>
          </a:p>
        </p:txBody>
      </p:sp>
      <p:sp>
        <p:nvSpPr>
          <p:cNvPr id="28" name="Shape 26"/>
          <p:cNvSpPr/>
          <p:nvPr/>
        </p:nvSpPr>
        <p:spPr>
          <a:xfrm>
            <a:off x="6126480" y="1554480"/>
            <a:ext cx="2560320" cy="4663440"/>
          </a:xfrm>
          <a:prstGeom prst="roundRect">
            <a:avLst/>
          </a:prstGeom>
          <a:solidFill>
            <a:srgbClr val="FFFFFF"/>
          </a:solidFill>
          <a:ln w="12700">
            <a:solidFill>
              <a:srgbClr val="E5E7EB"/>
            </a:solidFill>
            <a:prstDash val="solid"/>
          </a:ln>
        </p:spPr>
      </p:sp>
      <p:sp>
        <p:nvSpPr>
          <p:cNvPr id="29" name="Shape 27"/>
          <p:cNvSpPr/>
          <p:nvPr/>
        </p:nvSpPr>
        <p:spPr>
          <a:xfrm>
            <a:off x="6263640" y="1691640"/>
            <a:ext cx="2286000" cy="274320"/>
          </a:xfrm>
          <a:prstGeom prst="roundRect">
            <a:avLst/>
          </a:prstGeom>
          <a:solidFill>
            <a:srgbClr val="DCFCE7"/>
          </a:solidFill>
          <a:ln w="12700">
            <a:solidFill>
              <a:srgbClr val="DCFCE7"/>
            </a:solidFill>
            <a:prstDash val="solid"/>
          </a:ln>
        </p:spPr>
      </p:sp>
      <p:sp>
        <p:nvSpPr>
          <p:cNvPr id="30" name="Text 28"/>
          <p:cNvSpPr/>
          <p:nvPr/>
        </p:nvSpPr>
        <p:spPr>
          <a:xfrm>
            <a:off x="6263640" y="1691640"/>
            <a:ext cx="2286000" cy="274320"/>
          </a:xfrm>
          <a:prstGeom prst="rect">
            <a:avLst/>
          </a:prstGeom>
          <a:noFill/>
          <a:ln/>
        </p:spPr>
        <p:txBody>
          <a:bodyPr wrap="square" rtlCol="0" anchor="ctr"/>
          <a:lstStyle/>
          <a:p>
            <a:pPr algn="ctr" indent="0" marL="0">
              <a:buNone/>
            </a:pPr>
            <a:r>
              <a:rPr lang="en-US" sz="950" b="1" dirty="0">
                <a:solidFill>
                  <a:srgbClr val="166534"/>
                </a:solidFill>
                <a:latin typeface="Arial" pitchFamily="34" charset="0"/>
                <a:ea typeface="Arial" pitchFamily="34" charset="-122"/>
                <a:cs typeface="Arial" pitchFamily="34" charset="-120"/>
              </a:rPr>
              <a:t>SAN JUAN ÑUMÍ</a:t>
            </a:r>
            <a:endParaRPr lang="en-US" sz="950" dirty="0"/>
          </a:p>
        </p:txBody>
      </p:sp>
      <p:sp>
        <p:nvSpPr>
          <p:cNvPr id="31" name="Text 29"/>
          <p:cNvSpPr/>
          <p:nvPr/>
        </p:nvSpPr>
        <p:spPr>
          <a:xfrm>
            <a:off x="626364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Wild Campanilla Honey (Flor de la Mixteca Union)</a:t>
            </a:r>
            <a:endParaRPr lang="en-US" sz="1100" dirty="0"/>
          </a:p>
        </p:txBody>
      </p:sp>
      <p:sp>
        <p:nvSpPr>
          <p:cNvPr id="32" name="Text 30"/>
          <p:cNvSpPr/>
          <p:nvPr/>
        </p:nvSpPr>
        <p:spPr>
          <a:xfrm>
            <a:off x="626364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Luis Alexis Morales &amp; eduScrum / UMIZOOMI Team (TecNM Residency)</a:t>
            </a:r>
            <a:endParaRPr lang="en-US" sz="850" dirty="0"/>
          </a:p>
        </p:txBody>
      </p:sp>
      <p:sp>
        <p:nvSpPr>
          <p:cNvPr id="33" name="Shape 31"/>
          <p:cNvSpPr/>
          <p:nvPr/>
        </p:nvSpPr>
        <p:spPr>
          <a:xfrm>
            <a:off x="6263640" y="3063240"/>
            <a:ext cx="2286000" cy="0"/>
          </a:xfrm>
          <a:prstGeom prst="line">
            <a:avLst/>
          </a:prstGeom>
          <a:noFill/>
          <a:ln w="12700">
            <a:solidFill>
              <a:srgbClr val="E5E7EB"/>
            </a:solidFill>
            <a:prstDash val="solid"/>
          </a:ln>
        </p:spPr>
      </p:sp>
      <p:sp>
        <p:nvSpPr>
          <p:cNvPr id="34" name="Text 32"/>
          <p:cNvSpPr/>
          <p:nvPr/>
        </p:nvSpPr>
        <p:spPr>
          <a:xfrm>
            <a:off x="626364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35" name="Text 33"/>
          <p:cNvSpPr/>
          <p:nvPr/>
        </p:nvSpPr>
        <p:spPr>
          <a:xfrm>
            <a:off x="626364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Written on loose sheets and old paper notebooks. 3 days needed to transcribe member lists.</a:t>
            </a:r>
            <a:endParaRPr lang="en-US" sz="850" dirty="0"/>
          </a:p>
        </p:txBody>
      </p:sp>
      <p:sp>
        <p:nvSpPr>
          <p:cNvPr id="36" name="Text 34"/>
          <p:cNvSpPr/>
          <p:nvPr/>
        </p:nvSpPr>
        <p:spPr>
          <a:xfrm>
            <a:off x="626364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37" name="Text 35"/>
          <p:cNvSpPr/>
          <p:nvPr/>
        </p:nvSpPr>
        <p:spPr>
          <a:xfrm>
            <a:off x="626364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Lost harvest records; honey batches committed twice to buyers due to lack of real-time inventory.</a:t>
            </a:r>
            <a:endParaRPr lang="en-US" sz="850" dirty="0"/>
          </a:p>
        </p:txBody>
      </p:sp>
      <p:sp>
        <p:nvSpPr>
          <p:cNvPr id="38" name="Shape 36"/>
          <p:cNvSpPr/>
          <p:nvPr/>
        </p:nvSpPr>
        <p:spPr>
          <a:xfrm>
            <a:off x="6263640" y="5120640"/>
            <a:ext cx="2286000" cy="960120"/>
          </a:xfrm>
          <a:prstGeom prst="roundRect">
            <a:avLst/>
          </a:prstGeom>
          <a:solidFill>
            <a:srgbClr val="F9FAFB"/>
          </a:solidFill>
          <a:ln w="12700">
            <a:solidFill>
              <a:srgbClr val="E5E7EB"/>
            </a:solidFill>
            <a:prstDash val="solid"/>
          </a:ln>
        </p:spPr>
      </p:sp>
      <p:sp>
        <p:nvSpPr>
          <p:cNvPr id="39" name="Text 37"/>
          <p:cNvSpPr/>
          <p:nvPr/>
        </p:nvSpPr>
        <p:spPr>
          <a:xfrm>
            <a:off x="630936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President Rogelio Martínez: “Sometimes honey is offered, and later we find it was already sold.”</a:t>
            </a:r>
            <a:endParaRPr lang="en-US" sz="800" dirty="0"/>
          </a:p>
        </p:txBody>
      </p:sp>
      <p:sp>
        <p:nvSpPr>
          <p:cNvPr id="40" name="Shape 38"/>
          <p:cNvSpPr/>
          <p:nvPr/>
        </p:nvSpPr>
        <p:spPr>
          <a:xfrm>
            <a:off x="8823960" y="1554480"/>
            <a:ext cx="2560320" cy="4663440"/>
          </a:xfrm>
          <a:prstGeom prst="roundRect">
            <a:avLst/>
          </a:prstGeom>
          <a:solidFill>
            <a:srgbClr val="FFFFFF"/>
          </a:solidFill>
          <a:ln w="12700">
            <a:solidFill>
              <a:srgbClr val="E5E7EB"/>
            </a:solidFill>
            <a:prstDash val="solid"/>
          </a:ln>
        </p:spPr>
      </p:sp>
      <p:sp>
        <p:nvSpPr>
          <p:cNvPr id="41" name="Shape 39"/>
          <p:cNvSpPr/>
          <p:nvPr/>
        </p:nvSpPr>
        <p:spPr>
          <a:xfrm>
            <a:off x="8961120" y="1691640"/>
            <a:ext cx="2286000" cy="274320"/>
          </a:xfrm>
          <a:prstGeom prst="roundRect">
            <a:avLst/>
          </a:prstGeom>
          <a:solidFill>
            <a:srgbClr val="E0E7FF"/>
          </a:solidFill>
          <a:ln w="12700">
            <a:solidFill>
              <a:srgbClr val="E0E7FF"/>
            </a:solidFill>
            <a:prstDash val="solid"/>
          </a:ln>
        </p:spPr>
      </p:sp>
      <p:sp>
        <p:nvSpPr>
          <p:cNvPr id="42" name="Text 40"/>
          <p:cNvSpPr/>
          <p:nvPr/>
        </p:nvSpPr>
        <p:spPr>
          <a:xfrm>
            <a:off x="8961120" y="1691640"/>
            <a:ext cx="2286000" cy="274320"/>
          </a:xfrm>
          <a:prstGeom prst="rect">
            <a:avLst/>
          </a:prstGeom>
          <a:noFill/>
          <a:ln/>
        </p:spPr>
        <p:txBody>
          <a:bodyPr wrap="square" rtlCol="0" anchor="ctr"/>
          <a:lstStyle/>
          <a:p>
            <a:pPr algn="ctr" indent="0" marL="0">
              <a:buNone/>
            </a:pPr>
            <a:r>
              <a:rPr lang="en-US" sz="950" b="1" dirty="0">
                <a:solidFill>
                  <a:srgbClr val="3730A3"/>
                </a:solidFill>
                <a:latin typeface="Arial" pitchFamily="34" charset="0"/>
                <a:ea typeface="Arial" pitchFamily="34" charset="-122"/>
                <a:cs typeface="Arial" pitchFamily="34" charset="-120"/>
              </a:rPr>
              <a:t>TIJALTEPEC &amp; YUCUHITI</a:t>
            </a:r>
            <a:endParaRPr lang="en-US" sz="950" dirty="0"/>
          </a:p>
        </p:txBody>
      </p:sp>
      <p:sp>
        <p:nvSpPr>
          <p:cNvPr id="43" name="Text 41"/>
          <p:cNvSpPr/>
          <p:nvPr/>
        </p:nvSpPr>
        <p:spPr>
          <a:xfrm>
            <a:off x="896112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High-Altitude Specialty Coffee (1,800 MASL) &amp; Textiles</a:t>
            </a:r>
            <a:endParaRPr lang="en-US" sz="1100" dirty="0"/>
          </a:p>
        </p:txBody>
      </p:sp>
      <p:sp>
        <p:nvSpPr>
          <p:cNvPr id="44" name="Text 42"/>
          <p:cNvSpPr/>
          <p:nvPr/>
        </p:nvSpPr>
        <p:spPr>
          <a:xfrm>
            <a:off x="896112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Nallely López García (Student Research Lead)</a:t>
            </a:r>
            <a:endParaRPr lang="en-US" sz="850" dirty="0"/>
          </a:p>
        </p:txBody>
      </p:sp>
      <p:sp>
        <p:nvSpPr>
          <p:cNvPr id="45" name="Shape 43"/>
          <p:cNvSpPr/>
          <p:nvPr/>
        </p:nvSpPr>
        <p:spPr>
          <a:xfrm>
            <a:off x="8961120" y="3063240"/>
            <a:ext cx="2286000" cy="0"/>
          </a:xfrm>
          <a:prstGeom prst="line">
            <a:avLst/>
          </a:prstGeom>
          <a:noFill/>
          <a:ln w="12700">
            <a:solidFill>
              <a:srgbClr val="E5E7EB"/>
            </a:solidFill>
            <a:prstDash val="solid"/>
          </a:ln>
        </p:spPr>
      </p:sp>
      <p:sp>
        <p:nvSpPr>
          <p:cNvPr id="46" name="Text 44"/>
          <p:cNvSpPr/>
          <p:nvPr/>
        </p:nvSpPr>
        <p:spPr>
          <a:xfrm>
            <a:off x="896112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47" name="Text 45"/>
          <p:cNvSpPr/>
          <p:nvPr/>
        </p:nvSpPr>
        <p:spPr>
          <a:xfrm>
            <a:off x="896112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Roadside middlemen capture 82% of value; factory counterfeit shirts flood local markets.</a:t>
            </a:r>
            <a:endParaRPr lang="en-US" sz="850" dirty="0"/>
          </a:p>
        </p:txBody>
      </p:sp>
      <p:sp>
        <p:nvSpPr>
          <p:cNvPr id="48" name="Text 46"/>
          <p:cNvSpPr/>
          <p:nvPr/>
        </p:nvSpPr>
        <p:spPr>
          <a:xfrm>
            <a:off x="896112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49" name="Text 47"/>
          <p:cNvSpPr/>
          <p:nvPr/>
        </p:nvSpPr>
        <p:spPr>
          <a:xfrm>
            <a:off x="896112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Zero digital connectivity in mountain valleys. Urgent demand for tamper-proof origin seals.</a:t>
            </a:r>
            <a:endParaRPr lang="en-US" sz="850" dirty="0"/>
          </a:p>
        </p:txBody>
      </p:sp>
      <p:sp>
        <p:nvSpPr>
          <p:cNvPr id="50" name="Shape 48"/>
          <p:cNvSpPr/>
          <p:nvPr/>
        </p:nvSpPr>
        <p:spPr>
          <a:xfrm>
            <a:off x="8961120" y="5120640"/>
            <a:ext cx="2286000" cy="960120"/>
          </a:xfrm>
          <a:prstGeom prst="roundRect">
            <a:avLst/>
          </a:prstGeom>
          <a:solidFill>
            <a:srgbClr val="F9FAFB"/>
          </a:solidFill>
          <a:ln w="12700">
            <a:solidFill>
              <a:srgbClr val="E5E7EB"/>
            </a:solidFill>
            <a:prstDash val="solid"/>
          </a:ln>
        </p:spPr>
      </p:sp>
      <p:sp>
        <p:nvSpPr>
          <p:cNvPr id="51" name="Text 49"/>
          <p:cNvSpPr/>
          <p:nvPr/>
        </p:nvSpPr>
        <p:spPr>
          <a:xfrm>
            <a:off x="900684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Embroiderer, San Pablo Tijaltepec: “With this QR tag, people will no longer confuse our blouses with cheap knockoffs.”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ELDER ACCESSIBILITY UX AUDIT: FIELD RESULTS (MILESTONE 1.2)</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Cognitive Friction Testing with a Triqui weaver (56) and an embroiderer from Tijaltepec in Rural Outdoor Patios (PR #30 &amp; Issue #2)</a:t>
            </a:r>
            <a:endParaRPr lang="en-US" sz="1400" dirty="0"/>
          </a:p>
        </p:txBody>
      </p:sp>
      <p:sp>
        <p:nvSpPr>
          <p:cNvPr id="4" name="Shape 2"/>
          <p:cNvSpPr/>
          <p:nvPr/>
        </p:nvSpPr>
        <p:spPr>
          <a:xfrm>
            <a:off x="731520" y="1554480"/>
            <a:ext cx="3474720" cy="4663440"/>
          </a:xfrm>
          <a:prstGeom prst="roundRect">
            <a:avLst/>
          </a:prstGeom>
          <a:solidFill>
            <a:srgbClr val="FFFFFF"/>
          </a:solidFill>
          <a:ln w="12700">
            <a:solidFill>
              <a:srgbClr val="E5E7EB"/>
            </a:solidFill>
            <a:prstDash val="solid"/>
          </a:ln>
        </p:spPr>
      </p:sp>
      <p:sp>
        <p:nvSpPr>
          <p:cNvPr id="5" name="Shape 3"/>
          <p:cNvSpPr/>
          <p:nvPr/>
        </p:nvSpPr>
        <p:spPr>
          <a:xfrm>
            <a:off x="868680" y="1691640"/>
            <a:ext cx="3200400" cy="594360"/>
          </a:xfrm>
          <a:prstGeom prst="roundRect">
            <a:avLst/>
          </a:prstGeom>
          <a:solidFill>
            <a:srgbClr val="FEE2E2"/>
          </a:solidFill>
          <a:ln w="12700">
            <a:solidFill>
              <a:srgbClr val="FEE2E2"/>
            </a:solidFill>
            <a:prstDash val="solid"/>
          </a:ln>
        </p:spPr>
      </p:sp>
      <p:sp>
        <p:nvSpPr>
          <p:cNvPr id="6" name="Text 4"/>
          <p:cNvSpPr/>
          <p:nvPr/>
        </p:nvSpPr>
        <p:spPr>
          <a:xfrm>
            <a:off x="914400" y="1719072"/>
            <a:ext cx="3108960" cy="292608"/>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1. The 3 UX Friction Points</a:t>
            </a:r>
            <a:endParaRPr lang="en-US" sz="1100" dirty="0"/>
          </a:p>
        </p:txBody>
      </p:sp>
      <p:sp>
        <p:nvSpPr>
          <p:cNvPr id="7" name="Text 5"/>
          <p:cNvSpPr/>
          <p:nvPr/>
        </p:nvSpPr>
        <p:spPr>
          <a:xfrm>
            <a:off x="914400" y="1993392"/>
            <a:ext cx="3108960" cy="228600"/>
          </a:xfrm>
          <a:prstGeom prst="rect">
            <a:avLst/>
          </a:prstGeom>
          <a:noFill/>
          <a:ln/>
        </p:spPr>
        <p:txBody>
          <a:bodyPr wrap="square" rtlCol="0" anchor="ctr"/>
          <a:lstStyle/>
          <a:p>
            <a:pPr algn="ctr" indent="0" marL="0">
              <a:buNone/>
            </a:pPr>
            <a:r>
              <a:rPr lang="en-US" sz="850" dirty="0">
                <a:solidFill>
                  <a:srgbClr val="991B1B"/>
                </a:solidFill>
                <a:latin typeface="Arial" pitchFamily="34" charset="0"/>
                <a:ea typeface="Arial" pitchFamily="34" charset="-122"/>
                <a:cs typeface="Arial" pitchFamily="34" charset="-120"/>
              </a:rPr>
              <a:t>Discovered by students in outdoor field audits</a:t>
            </a:r>
            <a:endParaRPr lang="en-US" sz="850" dirty="0"/>
          </a:p>
        </p:txBody>
      </p:sp>
      <p:sp>
        <p:nvSpPr>
          <p:cNvPr id="8" name="Shape 6"/>
          <p:cNvSpPr/>
          <p:nvPr/>
        </p:nvSpPr>
        <p:spPr>
          <a:xfrm>
            <a:off x="868680" y="2423160"/>
            <a:ext cx="3200400" cy="1143000"/>
          </a:xfrm>
          <a:prstGeom prst="roundRect">
            <a:avLst/>
          </a:prstGeom>
          <a:solidFill>
            <a:srgbClr val="F9FAFB"/>
          </a:solidFill>
          <a:ln w="12700">
            <a:solidFill>
              <a:srgbClr val="E5E7EB"/>
            </a:solidFill>
            <a:prstDash val="solid"/>
          </a:ln>
        </p:spPr>
      </p:sp>
      <p:sp>
        <p:nvSpPr>
          <p:cNvPr id="9" name="Text 7"/>
          <p:cNvSpPr/>
          <p:nvPr/>
        </p:nvSpPr>
        <p:spPr>
          <a:xfrm>
            <a:off x="96012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Technophobia &amp; Fear of Error:</a:t>
            </a:r>
            <a:endParaRPr lang="en-US" sz="950" dirty="0"/>
          </a:p>
        </p:txBody>
      </p:sp>
      <p:sp>
        <p:nvSpPr>
          <p:cNvPr id="10" name="Text 8"/>
          <p:cNvSpPr/>
          <p:nvPr/>
        </p:nvSpPr>
        <p:spPr>
          <a:xfrm>
            <a:off x="96012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Hesitation exceeding 10 seconds: “Will the phone break if I tap this?”. Anxiety regarding deleting family photos.</a:t>
            </a:r>
            <a:endParaRPr lang="en-US" sz="850" dirty="0"/>
          </a:p>
        </p:txBody>
      </p:sp>
      <p:sp>
        <p:nvSpPr>
          <p:cNvPr id="11" name="Shape 9"/>
          <p:cNvSpPr/>
          <p:nvPr/>
        </p:nvSpPr>
        <p:spPr>
          <a:xfrm>
            <a:off x="868680" y="3657600"/>
            <a:ext cx="3200400" cy="1143000"/>
          </a:xfrm>
          <a:prstGeom prst="roundRect">
            <a:avLst/>
          </a:prstGeom>
          <a:solidFill>
            <a:srgbClr val="F9FAFB"/>
          </a:solidFill>
          <a:ln w="12700">
            <a:solidFill>
              <a:srgbClr val="E5E7EB"/>
            </a:solidFill>
            <a:prstDash val="solid"/>
          </a:ln>
        </p:spPr>
      </p:sp>
      <p:sp>
        <p:nvSpPr>
          <p:cNvPr id="12" name="Text 10"/>
          <p:cNvSpPr/>
          <p:nvPr/>
        </p:nvSpPr>
        <p:spPr>
          <a:xfrm>
            <a:off x="96012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Outdoor Glare &amp; Tiny Typography:</a:t>
            </a:r>
            <a:endParaRPr lang="en-US" sz="950" dirty="0"/>
          </a:p>
        </p:txBody>
      </p:sp>
      <p:sp>
        <p:nvSpPr>
          <p:cNvPr id="13" name="Text 11"/>
          <p:cNvSpPr/>
          <p:nvPr/>
        </p:nvSpPr>
        <p:spPr>
          <a:xfrm>
            <a:off x="96012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Under strong mountain sunlight, thin gray typography and small buttons (&lt;48px) become completely illegible.</a:t>
            </a:r>
            <a:endParaRPr lang="en-US" sz="850" dirty="0"/>
          </a:p>
        </p:txBody>
      </p:sp>
      <p:sp>
        <p:nvSpPr>
          <p:cNvPr id="14" name="Shape 12"/>
          <p:cNvSpPr/>
          <p:nvPr/>
        </p:nvSpPr>
        <p:spPr>
          <a:xfrm>
            <a:off x="868680" y="4892040"/>
            <a:ext cx="3200400" cy="1143000"/>
          </a:xfrm>
          <a:prstGeom prst="roundRect">
            <a:avLst/>
          </a:prstGeom>
          <a:solidFill>
            <a:srgbClr val="F9FAFB"/>
          </a:solidFill>
          <a:ln w="12700">
            <a:solidFill>
              <a:srgbClr val="E5E7EB"/>
            </a:solidFill>
            <a:prstDash val="solid"/>
          </a:ln>
        </p:spPr>
      </p:sp>
      <p:sp>
        <p:nvSpPr>
          <p:cNvPr id="15" name="Text 13"/>
          <p:cNvSpPr/>
          <p:nvPr/>
        </p:nvSpPr>
        <p:spPr>
          <a:xfrm>
            <a:off x="96012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Institutional Badge Skepticism:</a:t>
            </a:r>
            <a:endParaRPr lang="en-US" sz="950" dirty="0"/>
          </a:p>
        </p:txBody>
      </p:sp>
      <p:sp>
        <p:nvSpPr>
          <p:cNvPr id="16" name="Text 14"/>
          <p:cNvSpPr/>
          <p:nvPr/>
        </p:nvSpPr>
        <p:spPr>
          <a:xfrm>
            <a:off x="96012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Official government seals caused suspicion: “Is this to pay taxes to Hacienda?”. Required cultural authenticity marks.</a:t>
            </a:r>
            <a:endParaRPr lang="en-US" sz="850" dirty="0"/>
          </a:p>
        </p:txBody>
      </p:sp>
      <p:sp>
        <p:nvSpPr>
          <p:cNvPr id="17" name="Shape 15"/>
          <p:cNvSpPr/>
          <p:nvPr/>
        </p:nvSpPr>
        <p:spPr>
          <a:xfrm>
            <a:off x="4343400" y="1554480"/>
            <a:ext cx="3474720" cy="4663440"/>
          </a:xfrm>
          <a:prstGeom prst="roundRect">
            <a:avLst/>
          </a:prstGeom>
          <a:solidFill>
            <a:srgbClr val="FFFFFF"/>
          </a:solidFill>
          <a:ln w="12700">
            <a:solidFill>
              <a:srgbClr val="E5E7EB"/>
            </a:solidFill>
            <a:prstDash val="solid"/>
          </a:ln>
        </p:spPr>
      </p:sp>
      <p:sp>
        <p:nvSpPr>
          <p:cNvPr id="18" name="Shape 16"/>
          <p:cNvSpPr/>
          <p:nvPr/>
        </p:nvSpPr>
        <p:spPr>
          <a:xfrm>
            <a:off x="4480560" y="1691640"/>
            <a:ext cx="3200400" cy="594360"/>
          </a:xfrm>
          <a:prstGeom prst="roundRect">
            <a:avLst/>
          </a:prstGeom>
          <a:solidFill>
            <a:srgbClr val="DCFCE7"/>
          </a:solidFill>
          <a:ln w="12700">
            <a:solidFill>
              <a:srgbClr val="DCFCE7"/>
            </a:solidFill>
            <a:prstDash val="solid"/>
          </a:ln>
        </p:spPr>
      </p:sp>
      <p:sp>
        <p:nvSpPr>
          <p:cNvPr id="19" name="Text 17"/>
          <p:cNvSpPr/>
          <p:nvPr/>
        </p:nvSpPr>
        <p:spPr>
          <a:xfrm>
            <a:off x="4526280" y="1719072"/>
            <a:ext cx="3108960" cy="292608"/>
          </a:xfrm>
          <a:prstGeom prst="rect">
            <a:avLst/>
          </a:prstGeom>
          <a:noFill/>
          <a:ln/>
        </p:spPr>
        <p:txBody>
          <a:bodyPr wrap="square" rtlCol="0" anchor="ctr"/>
          <a:lstStyle/>
          <a:p>
            <a:pPr algn="ctr" indent="0" marL="0">
              <a:buNone/>
            </a:pPr>
            <a:r>
              <a:rPr lang="en-US" sz="1100" b="1" dirty="0">
                <a:solidFill>
                  <a:srgbClr val="166534"/>
                </a:solidFill>
                <a:latin typeface="Arial" pitchFamily="34" charset="0"/>
                <a:ea typeface="Arial" pitchFamily="34" charset="-122"/>
                <a:cs typeface="Arial" pitchFamily="34" charset="-120"/>
              </a:rPr>
              <a:t>2. The Yucu Architectural Fix</a:t>
            </a:r>
            <a:endParaRPr lang="en-US" sz="1100" dirty="0"/>
          </a:p>
        </p:txBody>
      </p:sp>
      <p:sp>
        <p:nvSpPr>
          <p:cNvPr id="20" name="Text 18"/>
          <p:cNvSpPr/>
          <p:nvPr/>
        </p:nvSpPr>
        <p:spPr>
          <a:xfrm>
            <a:off x="4526280" y="1993392"/>
            <a:ext cx="3108960" cy="228600"/>
          </a:xfrm>
          <a:prstGeom prst="rect">
            <a:avLst/>
          </a:prstGeom>
          <a:noFill/>
          <a:ln/>
        </p:spPr>
        <p:txBody>
          <a:bodyPr wrap="square" rtlCol="0" anchor="ctr"/>
          <a:lstStyle/>
          <a:p>
            <a:pPr algn="ctr" indent="0" marL="0">
              <a:buNone/>
            </a:pPr>
            <a:r>
              <a:rPr lang="en-US" sz="850" dirty="0">
                <a:solidFill>
                  <a:srgbClr val="166534"/>
                </a:solidFill>
                <a:latin typeface="Arial" pitchFamily="34" charset="0"/>
                <a:ea typeface="Arial" pitchFamily="34" charset="-122"/>
                <a:cs typeface="Arial" pitchFamily="34" charset="-120"/>
              </a:rPr>
              <a:t>Elder Mode: Tactile &amp; Spoken Voice</a:t>
            </a:r>
            <a:endParaRPr lang="en-US" sz="850" dirty="0"/>
          </a:p>
        </p:txBody>
      </p:sp>
      <p:sp>
        <p:nvSpPr>
          <p:cNvPr id="21" name="Shape 19"/>
          <p:cNvSpPr/>
          <p:nvPr/>
        </p:nvSpPr>
        <p:spPr>
          <a:xfrm>
            <a:off x="4480560" y="2423160"/>
            <a:ext cx="3200400" cy="1143000"/>
          </a:xfrm>
          <a:prstGeom prst="roundRect">
            <a:avLst/>
          </a:prstGeom>
          <a:solidFill>
            <a:srgbClr val="F9FAFB"/>
          </a:solidFill>
          <a:ln w="12700">
            <a:solidFill>
              <a:srgbClr val="E5E7EB"/>
            </a:solidFill>
            <a:prstDash val="solid"/>
          </a:ln>
        </p:spPr>
      </p:sp>
      <p:sp>
        <p:nvSpPr>
          <p:cNvPr id="22" name="Text 20"/>
          <p:cNvSpPr/>
          <p:nvPr/>
        </p:nvSpPr>
        <p:spPr>
          <a:xfrm>
            <a:off x="457200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112px Giant Tactile Touch-Targets:</a:t>
            </a:r>
            <a:endParaRPr lang="en-US" sz="950" dirty="0"/>
          </a:p>
        </p:txBody>
      </p:sp>
      <p:sp>
        <p:nvSpPr>
          <p:cNvPr id="23" name="Text 21"/>
          <p:cNvSpPr/>
          <p:nvPr/>
        </p:nvSpPr>
        <p:spPr>
          <a:xfrm>
            <a:off x="457200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Oversized buttons designed for farmers with manual calluses and artisans suffering from osteoarticular strain.</a:t>
            </a:r>
            <a:endParaRPr lang="en-US" sz="850" dirty="0"/>
          </a:p>
        </p:txBody>
      </p:sp>
      <p:sp>
        <p:nvSpPr>
          <p:cNvPr id="24" name="Shape 22"/>
          <p:cNvSpPr/>
          <p:nvPr/>
        </p:nvSpPr>
        <p:spPr>
          <a:xfrm>
            <a:off x="4480560" y="3657600"/>
            <a:ext cx="3200400" cy="1143000"/>
          </a:xfrm>
          <a:prstGeom prst="roundRect">
            <a:avLst/>
          </a:prstGeom>
          <a:solidFill>
            <a:srgbClr val="F9FAFB"/>
          </a:solidFill>
          <a:ln w="12700">
            <a:solidFill>
              <a:srgbClr val="E5E7EB"/>
            </a:solidFill>
            <a:prstDash val="solid"/>
          </a:ln>
        </p:spPr>
      </p:sp>
      <p:sp>
        <p:nvSpPr>
          <p:cNvPr id="25" name="Text 23"/>
          <p:cNvSpPr/>
          <p:nvPr/>
        </p:nvSpPr>
        <p:spPr>
          <a:xfrm>
            <a:off x="457200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Native Spoken Mixtec (*Tu’un Savi*):</a:t>
            </a:r>
            <a:endParaRPr lang="en-US" sz="950" dirty="0"/>
          </a:p>
        </p:txBody>
      </p:sp>
      <p:sp>
        <p:nvSpPr>
          <p:cNvPr id="26" name="Text 24"/>
          <p:cNvSpPr/>
          <p:nvPr/>
        </p:nvSpPr>
        <p:spPr>
          <a:xfrm>
            <a:off x="457200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Opus 24kbps Web Audio API streaming. Zero typing or passwords required (Zero-Typing Principle).</a:t>
            </a:r>
            <a:endParaRPr lang="en-US" sz="850" dirty="0"/>
          </a:p>
        </p:txBody>
      </p:sp>
      <p:sp>
        <p:nvSpPr>
          <p:cNvPr id="27" name="Shape 25"/>
          <p:cNvSpPr/>
          <p:nvPr/>
        </p:nvSpPr>
        <p:spPr>
          <a:xfrm>
            <a:off x="4480560" y="4892040"/>
            <a:ext cx="3200400" cy="1143000"/>
          </a:xfrm>
          <a:prstGeom prst="roundRect">
            <a:avLst/>
          </a:prstGeom>
          <a:solidFill>
            <a:srgbClr val="F9FAFB"/>
          </a:solidFill>
          <a:ln w="12700">
            <a:solidFill>
              <a:srgbClr val="E5E7EB"/>
            </a:solidFill>
            <a:prstDash val="solid"/>
          </a:ln>
        </p:spPr>
      </p:sp>
      <p:sp>
        <p:nvSpPr>
          <p:cNvPr id="28" name="Text 26"/>
          <p:cNvSpPr/>
          <p:nvPr/>
        </p:nvSpPr>
        <p:spPr>
          <a:xfrm>
            <a:off x="457200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Offline-First IndexedDB Buffer:</a:t>
            </a:r>
            <a:endParaRPr lang="en-US" sz="950" dirty="0"/>
          </a:p>
        </p:txBody>
      </p:sp>
      <p:sp>
        <p:nvSpPr>
          <p:cNvPr id="29" name="Text 27"/>
          <p:cNvSpPr/>
          <p:nvPr/>
        </p:nvSpPr>
        <p:spPr>
          <a:xfrm>
            <a:off x="457200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100% data persistence guarantee on mountain parcels even with zero cellular signal or 3G connectivity.</a:t>
            </a:r>
            <a:endParaRPr lang="en-US" sz="850" dirty="0"/>
          </a:p>
        </p:txBody>
      </p:sp>
      <p:sp>
        <p:nvSpPr>
          <p:cNvPr id="30" name="Shape 28"/>
          <p:cNvSpPr/>
          <p:nvPr/>
        </p:nvSpPr>
        <p:spPr>
          <a:xfrm>
            <a:off x="7955280" y="1554480"/>
            <a:ext cx="3474720" cy="4663440"/>
          </a:xfrm>
          <a:prstGeom prst="roundRect">
            <a:avLst/>
          </a:prstGeom>
          <a:solidFill>
            <a:srgbClr val="FFFFFF"/>
          </a:solidFill>
          <a:ln w="12700">
            <a:solidFill>
              <a:srgbClr val="E5E7EB"/>
            </a:solidFill>
            <a:prstDash val="solid"/>
          </a:ln>
        </p:spPr>
      </p:sp>
      <p:sp>
        <p:nvSpPr>
          <p:cNvPr id="31" name="Shape 29"/>
          <p:cNvSpPr/>
          <p:nvPr/>
        </p:nvSpPr>
        <p:spPr>
          <a:xfrm>
            <a:off x="8092440" y="1691640"/>
            <a:ext cx="3200400" cy="594360"/>
          </a:xfrm>
          <a:prstGeom prst="roundRect">
            <a:avLst/>
          </a:prstGeom>
          <a:solidFill>
            <a:srgbClr val="FEF3C7"/>
          </a:solidFill>
          <a:ln w="12700">
            <a:solidFill>
              <a:srgbClr val="FEF3C7"/>
            </a:solidFill>
            <a:prstDash val="solid"/>
          </a:ln>
        </p:spPr>
      </p:sp>
      <p:sp>
        <p:nvSpPr>
          <p:cNvPr id="32" name="Text 30"/>
          <p:cNvSpPr/>
          <p:nvPr/>
        </p:nvSpPr>
        <p:spPr>
          <a:xfrm>
            <a:off x="8138160" y="1719072"/>
            <a:ext cx="3108960" cy="292608"/>
          </a:xfrm>
          <a:prstGeom prst="rect">
            <a:avLst/>
          </a:prstGeom>
          <a:noFill/>
          <a:ln/>
        </p:spPr>
        <p:txBody>
          <a:bodyPr wrap="square" rtlCol="0" anchor="ctr"/>
          <a:lstStyle/>
          <a:p>
            <a:pPr algn="ctr" indent="0" marL="0">
              <a:buNone/>
            </a:pPr>
            <a:r>
              <a:rPr lang="en-US" sz="1100" b="1" dirty="0">
                <a:solidFill>
                  <a:srgbClr val="92400E"/>
                </a:solidFill>
                <a:latin typeface="Arial" pitchFamily="34" charset="0"/>
                <a:ea typeface="Arial" pitchFamily="34" charset="-122"/>
                <a:cs typeface="Arial" pitchFamily="34" charset="-120"/>
              </a:rPr>
              <a:t>3. Field-Validated Outcomes</a:t>
            </a:r>
            <a:endParaRPr lang="en-US" sz="1100" dirty="0"/>
          </a:p>
        </p:txBody>
      </p:sp>
      <p:sp>
        <p:nvSpPr>
          <p:cNvPr id="33" name="Text 31"/>
          <p:cNvSpPr/>
          <p:nvPr/>
        </p:nvSpPr>
        <p:spPr>
          <a:xfrm>
            <a:off x="8138160" y="1993392"/>
            <a:ext cx="3108960" cy="228600"/>
          </a:xfrm>
          <a:prstGeom prst="rect">
            <a:avLst/>
          </a:prstGeom>
          <a:noFill/>
          <a:ln/>
        </p:spPr>
        <p:txBody>
          <a:bodyPr wrap="square" rtlCol="0" anchor="ctr"/>
          <a:lstStyle/>
          <a:p>
            <a:pPr algn="ctr" indent="0" marL="0">
              <a:buNone/>
            </a:pPr>
            <a:r>
              <a:rPr lang="en-US" sz="850" dirty="0">
                <a:solidFill>
                  <a:srgbClr val="92400E"/>
                </a:solidFill>
                <a:latin typeface="Arial" pitchFamily="34" charset="0"/>
                <a:ea typeface="Arial" pitchFamily="34" charset="-122"/>
                <a:cs typeface="Arial" pitchFamily="34" charset="-120"/>
              </a:rPr>
              <a:t>100% task completion without assistance</a:t>
            </a:r>
            <a:endParaRPr lang="en-US" sz="850" dirty="0"/>
          </a:p>
        </p:txBody>
      </p:sp>
      <p:sp>
        <p:nvSpPr>
          <p:cNvPr id="34" name="Shape 32"/>
          <p:cNvSpPr/>
          <p:nvPr/>
        </p:nvSpPr>
        <p:spPr>
          <a:xfrm>
            <a:off x="8092440" y="2423160"/>
            <a:ext cx="3200400" cy="1143000"/>
          </a:xfrm>
          <a:prstGeom prst="roundRect">
            <a:avLst/>
          </a:prstGeom>
          <a:solidFill>
            <a:srgbClr val="F9FAFB"/>
          </a:solidFill>
          <a:ln w="12700">
            <a:solidFill>
              <a:srgbClr val="E5E7EB"/>
            </a:solidFill>
            <a:prstDash val="solid"/>
          </a:ln>
        </p:spPr>
      </p:sp>
      <p:sp>
        <p:nvSpPr>
          <p:cNvPr id="35" name="Text 33"/>
          <p:cNvSpPr/>
          <p:nvPr/>
        </p:nvSpPr>
        <p:spPr>
          <a:xfrm>
            <a:off x="818388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QR Adoption in 6-9 Seconds:</a:t>
            </a:r>
            <a:endParaRPr lang="en-US" sz="950" dirty="0"/>
          </a:p>
        </p:txBody>
      </p:sp>
      <p:sp>
        <p:nvSpPr>
          <p:cNvPr id="36" name="Text 34"/>
          <p:cNvSpPr/>
          <p:nvPr/>
        </p:nvSpPr>
        <p:spPr>
          <a:xfrm>
            <a:off x="818388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An embroiderer from Tijaltepec grasped the Hang-Tag instantly: “So nobody confuses our deer blouses with cheap factory knockoffs”.</a:t>
            </a:r>
            <a:endParaRPr lang="en-US" sz="850" dirty="0"/>
          </a:p>
        </p:txBody>
      </p:sp>
      <p:sp>
        <p:nvSpPr>
          <p:cNvPr id="37" name="Shape 35"/>
          <p:cNvSpPr/>
          <p:nvPr/>
        </p:nvSpPr>
        <p:spPr>
          <a:xfrm>
            <a:off x="8092440" y="3657600"/>
            <a:ext cx="3200400" cy="1143000"/>
          </a:xfrm>
          <a:prstGeom prst="roundRect">
            <a:avLst/>
          </a:prstGeom>
          <a:solidFill>
            <a:srgbClr val="F9FAFB"/>
          </a:solidFill>
          <a:ln w="12700">
            <a:solidFill>
              <a:srgbClr val="E5E7EB"/>
            </a:solidFill>
            <a:prstDash val="solid"/>
          </a:ln>
        </p:spPr>
      </p:sp>
      <p:sp>
        <p:nvSpPr>
          <p:cNvPr id="38" name="Text 36"/>
          <p:cNvSpPr/>
          <p:nvPr/>
        </p:nvSpPr>
        <p:spPr>
          <a:xfrm>
            <a:off x="818388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Full Harvest Registration &lt; 3 Mins:</a:t>
            </a:r>
            <a:endParaRPr lang="en-US" sz="950" dirty="0"/>
          </a:p>
        </p:txBody>
      </p:sp>
      <p:sp>
        <p:nvSpPr>
          <p:cNvPr id="39" name="Text 37"/>
          <p:cNvSpPr/>
          <p:nvPr/>
        </p:nvSpPr>
        <p:spPr>
          <a:xfrm>
            <a:off x="818388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Smallholders complete oral lot declarations in under 180 seconds via speech-to-text.</a:t>
            </a:r>
            <a:endParaRPr lang="en-US" sz="850" dirty="0"/>
          </a:p>
        </p:txBody>
      </p:sp>
      <p:sp>
        <p:nvSpPr>
          <p:cNvPr id="40" name="Shape 38"/>
          <p:cNvSpPr/>
          <p:nvPr/>
        </p:nvSpPr>
        <p:spPr>
          <a:xfrm>
            <a:off x="8092440" y="4892040"/>
            <a:ext cx="3200400" cy="1143000"/>
          </a:xfrm>
          <a:prstGeom prst="roundRect">
            <a:avLst/>
          </a:prstGeom>
          <a:solidFill>
            <a:srgbClr val="F9FAFB"/>
          </a:solidFill>
          <a:ln w="12700">
            <a:solidFill>
              <a:srgbClr val="E5E7EB"/>
            </a:solidFill>
            <a:prstDash val="solid"/>
          </a:ln>
        </p:spPr>
      </p:sp>
      <p:sp>
        <p:nvSpPr>
          <p:cNvPr id="41" name="Text 39"/>
          <p:cNvSpPr/>
          <p:nvPr/>
        </p:nvSpPr>
        <p:spPr>
          <a:xfrm>
            <a:off x="818388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Zero Seed-Phrase Friction:</a:t>
            </a:r>
            <a:endParaRPr lang="en-US" sz="950" dirty="0"/>
          </a:p>
        </p:txBody>
      </p:sp>
      <p:sp>
        <p:nvSpPr>
          <p:cNvPr id="42" name="Text 40"/>
          <p:cNvSpPr/>
          <p:nvPr/>
        </p:nvSpPr>
        <p:spPr>
          <a:xfrm>
            <a:off x="818388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Deterministic key derivation and canonical SHA-256 digest creation without exposing private keys to elderly users.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MISSING INFRASTRUCTURE PRIMITIVE IN STELLAR</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Why Real-World Asset (RWA) Tokenization Demands On-Chain Attestations</a:t>
            </a:r>
            <a:endParaRPr lang="en-US" sz="1400" dirty="0"/>
          </a:p>
        </p:txBody>
      </p:sp>
      <p:sp>
        <p:nvSpPr>
          <p:cNvPr id="4" name="Shape 2"/>
          <p:cNvSpPr/>
          <p:nvPr/>
        </p:nvSpPr>
        <p:spPr>
          <a:xfrm>
            <a:off x="731520" y="1645920"/>
            <a:ext cx="502920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4480560" cy="365760"/>
          </a:xfrm>
          <a:prstGeom prst="rect">
            <a:avLst/>
          </a:prstGeom>
          <a:noFill/>
          <a:ln/>
        </p:spPr>
        <p:txBody>
          <a:bodyPr wrap="square" rtlCol="0" anchor="ctr"/>
          <a:lstStyle/>
          <a:p>
            <a:pPr indent="0" marL="0">
              <a:buNone/>
            </a:pPr>
            <a:r>
              <a:rPr lang="en-US" sz="1400" b="1" dirty="0">
                <a:solidFill>
                  <a:srgbClr val="991B1B"/>
                </a:solidFill>
                <a:latin typeface="Arial" pitchFamily="34" charset="0"/>
                <a:ea typeface="Arial" pitchFamily="34" charset="-122"/>
                <a:cs typeface="Arial" pitchFamily="34" charset="-120"/>
              </a:rPr>
              <a:t>THE ECOSYSTEM GAP TODAY</a:t>
            </a:r>
            <a:endParaRPr lang="en-US" sz="1400" dirty="0"/>
          </a:p>
        </p:txBody>
      </p:sp>
      <p:sp>
        <p:nvSpPr>
          <p:cNvPr id="6" name="Text 4"/>
          <p:cNvSpPr/>
          <p:nvPr/>
        </p:nvSpPr>
        <p:spPr>
          <a:xfrm>
            <a:off x="1005840" y="2377440"/>
            <a:ext cx="4480560" cy="3383280"/>
          </a:xfrm>
          <a:prstGeom prst="rect">
            <a:avLst/>
          </a:prstGeom>
          <a:noFill/>
          <a:ln/>
        </p:spPr>
        <p:txBody>
          <a:bodyPr wrap="square" rtlCol="0" anchor="ctr"/>
          <a:lstStyle/>
          <a:p>
            <a:pPr indent="0" marL="0">
              <a:lnSpc>
                <a:spcPts val="1800"/>
              </a:lnSpc>
              <a:buNone/>
            </a:pPr>
            <a:r>
              <a:rPr lang="en-US" sz="1200" b="1" dirty="0">
                <a:solidFill>
                  <a:srgbClr val="1C2421"/>
                </a:solidFill>
                <a:latin typeface="Arial" pitchFamily="34" charset="0"/>
                <a:ea typeface="Arial" pitchFamily="34" charset="-122"/>
                <a:cs typeface="Arial" pitchFamily="34" charset="-120"/>
              </a:rPr>
              <a:t>• Ethereum EAS Benchmark: </a:t>
            </a:r>
            <a:pPr indent="0" marL="0">
              <a:lnSpc>
                <a:spcPts val="1800"/>
              </a:lnSpc>
              <a:buNone/>
            </a:pPr>
            <a:r>
              <a:rPr lang="en-US" sz="1200" dirty="0">
                <a:solidFill>
                  <a:srgbClr val="1C2421"/>
                </a:solidFill>
                <a:latin typeface="Arial" pitchFamily="34" charset="0"/>
                <a:ea typeface="Arial" pitchFamily="34" charset="-122"/>
                <a:cs typeface="Arial" pitchFamily="34" charset="-120"/>
              </a:rPr>
              <a:t>Ethereum pioneered verifiable claims with EAS, but L1 gas spikes ($5-$25 USD) disqualify it from rural micro-settlements.
</a:t>
            </a:r>
            <a:pPr indent="0" marL="0">
              <a:lnSpc>
                <a:spcPts val="1800"/>
              </a:lnSpc>
              <a:buNone/>
            </a:pPr>
            <a:r>
              <a:rPr lang="en-US" sz="1200" b="1" dirty="0">
                <a:solidFill>
                  <a:srgbClr val="1C2421"/>
                </a:solidFill>
                <a:latin typeface="Arial" pitchFamily="34" charset="0"/>
                <a:ea typeface="Arial" pitchFamily="34" charset="-122"/>
                <a:cs typeface="Arial" pitchFamily="34" charset="-120"/>
              </a:rPr>
              <a:t>• Stellar Classic Legacy: </a:t>
            </a:r>
            <a:pPr indent="0" marL="0">
              <a:lnSpc>
                <a:spcPts val="1800"/>
              </a:lnSpc>
              <a:buNone/>
            </a:pPr>
            <a:r>
              <a:rPr lang="en-US" sz="1200" dirty="0">
                <a:solidFill>
                  <a:srgbClr val="1C2421"/>
                </a:solidFill>
                <a:latin typeface="Arial" pitchFamily="34" charset="0"/>
                <a:ea typeface="Arial" pitchFamily="34" charset="-122"/>
                <a:cs typeface="Arial" pitchFamily="34" charset="-120"/>
              </a:rPr>
              <a:t>SEP-10 (auth) and SEP-12 (KYC) are client-server REST APIs. They do not live on-chain as Turing-complete smart contracts.
</a:t>
            </a:r>
            <a:pPr indent="0" marL="0">
              <a:lnSpc>
                <a:spcPts val="1800"/>
              </a:lnSpc>
              <a:buNone/>
            </a:pPr>
            <a:r>
              <a:rPr lang="en-US" sz="1200" b="1" dirty="0">
                <a:solidFill>
                  <a:srgbClr val="1C2421"/>
                </a:solidFill>
                <a:latin typeface="Arial" pitchFamily="34" charset="0"/>
                <a:ea typeface="Arial" pitchFamily="34" charset="-122"/>
                <a:cs typeface="Arial" pitchFamily="34" charset="-120"/>
              </a:rPr>
              <a:t>• Fragmented RWA Solutions: </a:t>
            </a:r>
            <a:pPr indent="0" marL="0">
              <a:lnSpc>
                <a:spcPts val="1800"/>
              </a:lnSpc>
              <a:buNone/>
            </a:pPr>
            <a:r>
              <a:rPr lang="en-US" sz="1200" dirty="0">
                <a:solidFill>
                  <a:srgbClr val="1C2421"/>
                </a:solidFill>
                <a:latin typeface="Arial" pitchFamily="34" charset="0"/>
                <a:ea typeface="Arial" pitchFamily="34" charset="-122"/>
                <a:cs typeface="Arial" pitchFamily="34" charset="-120"/>
              </a:rPr>
              <a:t>Without a standardized attestation interface, every commodity or supply chain project on Soroban must build bespoke, non-interoperable smart contracts.</a:t>
            </a:r>
            <a:endParaRPr lang="en-US" sz="1200" dirty="0"/>
          </a:p>
        </p:txBody>
      </p:sp>
      <p:sp>
        <p:nvSpPr>
          <p:cNvPr id="7" name="Shape 5"/>
          <p:cNvSpPr/>
          <p:nvPr/>
        </p:nvSpPr>
        <p:spPr>
          <a:xfrm>
            <a:off x="6217920" y="1645920"/>
            <a:ext cx="5029200" cy="4389120"/>
          </a:xfrm>
          <a:prstGeom prst="roundRect">
            <a:avLst/>
          </a:prstGeom>
          <a:solidFill>
            <a:srgbClr val="F0FDF4"/>
          </a:solidFill>
          <a:ln w="19050">
            <a:solidFill>
              <a:srgbClr val="86EFAC"/>
            </a:solidFill>
            <a:prstDash val="solid"/>
          </a:ln>
        </p:spPr>
      </p:sp>
      <p:sp>
        <p:nvSpPr>
          <p:cNvPr id="8" name="Text 6"/>
          <p:cNvSpPr/>
          <p:nvPr/>
        </p:nvSpPr>
        <p:spPr>
          <a:xfrm>
            <a:off x="6492240" y="1920240"/>
            <a:ext cx="4480560" cy="365760"/>
          </a:xfrm>
          <a:prstGeom prst="rect">
            <a:avLst/>
          </a:prstGeom>
          <a:noFill/>
          <a:ln/>
        </p:spPr>
        <p:txBody>
          <a:bodyPr wrap="square" rtlCol="0" anchor="ctr"/>
          <a:lstStyle/>
          <a:p>
            <a:pPr indent="0" marL="0">
              <a:buNone/>
            </a:pPr>
            <a:r>
              <a:rPr lang="en-US" sz="1400" b="1" dirty="0">
                <a:solidFill>
                  <a:srgbClr val="166534"/>
                </a:solidFill>
                <a:latin typeface="Arial" pitchFamily="34" charset="0"/>
                <a:ea typeface="Arial" pitchFamily="34" charset="-122"/>
                <a:cs typeface="Arial" pitchFamily="34" charset="-120"/>
              </a:rPr>
              <a:t>OUR OPEN CONTRIBUTION (SEP-RWA)</a:t>
            </a:r>
            <a:endParaRPr lang="en-US" sz="1400" dirty="0"/>
          </a:p>
        </p:txBody>
      </p:sp>
      <p:sp>
        <p:nvSpPr>
          <p:cNvPr id="9" name="Text 7"/>
          <p:cNvSpPr/>
          <p:nvPr/>
        </p:nvSpPr>
        <p:spPr>
          <a:xfrm>
            <a:off x="6492240" y="2377440"/>
            <a:ext cx="4480560" cy="3383280"/>
          </a:xfrm>
          <a:prstGeom prst="rect">
            <a:avLst/>
          </a:prstGeom>
          <a:noFill/>
          <a:ln/>
        </p:spPr>
        <p:txBody>
          <a:bodyPr wrap="square" rtlCol="0" anchor="ctr"/>
          <a:lstStyle/>
          <a:p>
            <a:pPr indent="0" marL="0">
              <a:lnSpc>
                <a:spcPts val="1800"/>
              </a:lnSpc>
              <a:buNone/>
            </a:pPr>
            <a:r>
              <a:rPr lang="en-US" sz="1200" b="1" dirty="0">
                <a:solidFill>
                  <a:srgbClr val="14532D"/>
                </a:solidFill>
                <a:latin typeface="Arial" pitchFamily="34" charset="0"/>
                <a:ea typeface="Arial" pitchFamily="34" charset="-122"/>
                <a:cs typeface="Arial" pitchFamily="34" charset="-120"/>
              </a:rPr>
              <a:t>• The "EAS of Stellar": </a:t>
            </a:r>
            <a:pPr indent="0" marL="0">
              <a:lnSpc>
                <a:spcPts val="1800"/>
              </a:lnSpc>
              <a:buNone/>
            </a:pPr>
            <a:r>
              <a:rPr lang="en-US" sz="1200" dirty="0">
                <a:solidFill>
                  <a:srgbClr val="14532D"/>
                </a:solidFill>
                <a:latin typeface="Arial" pitchFamily="34" charset="0"/>
                <a:ea typeface="Arial" pitchFamily="34" charset="-122"/>
                <a:cs typeface="Arial" pitchFamily="34" charset="-120"/>
              </a:rPr>
              <a:t>An open, composable Schema Registry in Rust on Soroban Protocol 22.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Micro-Cent Verifications: </a:t>
            </a:r>
            <a:pPr indent="0" marL="0">
              <a:lnSpc>
                <a:spcPts val="1800"/>
              </a:lnSpc>
              <a:buNone/>
            </a:pPr>
            <a:r>
              <a:rPr lang="en-US" sz="1200" dirty="0">
                <a:solidFill>
                  <a:srgbClr val="14532D"/>
                </a:solidFill>
                <a:latin typeface="Arial" pitchFamily="34" charset="0"/>
                <a:ea typeface="Arial" pitchFamily="34" charset="-122"/>
                <a:cs typeface="Arial" pitchFamily="34" charset="-120"/>
              </a:rPr>
              <a:t>Finality in ~5 seconds at $0.00001 USD per attestation, enabling millions of micro-agricultural claims.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Native State TTL Management: </a:t>
            </a:r>
            <a:pPr indent="0" marL="0">
              <a:lnSpc>
                <a:spcPts val="1800"/>
              </a:lnSpc>
              <a:buNone/>
            </a:pPr>
            <a:r>
              <a:rPr lang="en-US" sz="1200" dirty="0">
                <a:solidFill>
                  <a:srgbClr val="14532D"/>
                </a:solidFill>
                <a:latin typeface="Arial" pitchFamily="34" charset="0"/>
                <a:ea typeface="Arial" pitchFamily="34" charset="-122"/>
                <a:cs typeface="Arial" pitchFamily="34" charset="-120"/>
              </a:rPr>
              <a:t>Full utilization of Soroban persistent storage with automated extend_ttl for decades-long ledger durability.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Formal Draft Proposal: </a:t>
            </a:r>
            <a:pPr indent="0" marL="0">
              <a:lnSpc>
                <a:spcPts val="1800"/>
              </a:lnSpc>
              <a:buNone/>
            </a:pPr>
            <a:r>
              <a:rPr lang="en-US" sz="1200" dirty="0">
                <a:solidFill>
                  <a:srgbClr val="14532D"/>
                </a:solidFill>
                <a:latin typeface="Arial" pitchFamily="34" charset="0"/>
                <a:ea typeface="Arial" pitchFamily="34" charset="-122"/>
                <a:cs typeface="Arial" pitchFamily="34" charset="-120"/>
              </a:rPr>
              <a:t>Complete open specification ready for SDF review in docs/SEP_RWA_ATTESTATION_DRAFT.md.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CORE SMART CONTRACT ARCHITECTURE</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Three Modular, Interconnected Rust Contracts on Soroban Protocol 22</a:t>
            </a:r>
            <a:endParaRPr lang="en-US" sz="1400" dirty="0"/>
          </a:p>
        </p:txBody>
      </p:sp>
      <p:sp>
        <p:nvSpPr>
          <p:cNvPr id="4" name="Shape 2"/>
          <p:cNvSpPr/>
          <p:nvPr/>
        </p:nvSpPr>
        <p:spPr>
          <a:xfrm>
            <a:off x="731520" y="1645920"/>
            <a:ext cx="329184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1. AttestationRegistry.rs</a:t>
            </a:r>
            <a:endParaRPr lang="en-US" sz="1300" dirty="0"/>
          </a:p>
        </p:txBody>
      </p:sp>
      <p:sp>
        <p:nvSpPr>
          <p:cNvPr id="6" name="Text 4"/>
          <p:cNvSpPr/>
          <p:nvPr/>
        </p:nvSpPr>
        <p:spPr>
          <a:xfrm>
            <a:off x="100584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The On-Chain Notarial Ledger</a:t>
            </a:r>
            <a:endParaRPr lang="en-US" sz="1000" dirty="0"/>
          </a:p>
        </p:txBody>
      </p:sp>
      <p:sp>
        <p:nvSpPr>
          <p:cNvPr id="7" name="Text 5"/>
          <p:cNvSpPr/>
          <p:nvPr/>
        </p:nvSpPr>
        <p:spPr>
          <a:xfrm>
            <a:off x="100584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Stores immutable AttestationSchema structs.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Registers deterministic AttestationRecord entries.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Canonical SHA-256 digests &amp; Ed25519 signatures.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Soroban State Rent TTL extensions (100k - 500k ledgers).</a:t>
            </a:r>
            <a:endParaRPr lang="en-US" sz="1100" dirty="0"/>
          </a:p>
        </p:txBody>
      </p:sp>
      <p:sp>
        <p:nvSpPr>
          <p:cNvPr id="8" name="Shape 6"/>
          <p:cNvSpPr/>
          <p:nvPr/>
        </p:nvSpPr>
        <p:spPr>
          <a:xfrm>
            <a:off x="4343400" y="1645920"/>
            <a:ext cx="3291840" cy="4389120"/>
          </a:xfrm>
          <a:prstGeom prst="roundRect">
            <a:avLst/>
          </a:prstGeom>
          <a:solidFill>
            <a:srgbClr val="FFFFFF"/>
          </a:solidFill>
          <a:ln w="12700">
            <a:solidFill>
              <a:srgbClr val="E5E7EB"/>
            </a:solidFill>
            <a:prstDash val="solid"/>
          </a:ln>
        </p:spPr>
      </p:sp>
      <p:sp>
        <p:nvSpPr>
          <p:cNvPr id="9" name="Text 7"/>
          <p:cNvSpPr/>
          <p:nvPr/>
        </p:nvSpPr>
        <p:spPr>
          <a:xfrm>
            <a:off x="461772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2. FairEscrow.rs</a:t>
            </a:r>
            <a:endParaRPr lang="en-US" sz="1300" dirty="0"/>
          </a:p>
        </p:txBody>
      </p:sp>
      <p:sp>
        <p:nvSpPr>
          <p:cNvPr id="10" name="Text 8"/>
          <p:cNvSpPr/>
          <p:nvPr/>
        </p:nvSpPr>
        <p:spPr>
          <a:xfrm>
            <a:off x="461772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Conditional Payment Gateway</a:t>
            </a:r>
            <a:endParaRPr lang="en-US" sz="1000" dirty="0"/>
          </a:p>
        </p:txBody>
      </p:sp>
      <p:sp>
        <p:nvSpPr>
          <p:cNvPr id="11" name="Text 9"/>
          <p:cNvSpPr/>
          <p:nvPr/>
        </p:nvSpPr>
        <p:spPr>
          <a:xfrm>
            <a:off x="461772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Locks buyer stablecoin liquidity (USDC / MXNe).</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Releases funds ONLY upon valid delivery_attestation_uid.</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Anti-Coyote Guardrails: Programmatic price floors.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Zero platform take-rate for primary producers.</a:t>
            </a:r>
            <a:endParaRPr lang="en-US" sz="1100" dirty="0"/>
          </a:p>
        </p:txBody>
      </p:sp>
      <p:sp>
        <p:nvSpPr>
          <p:cNvPr id="12" name="Shape 10"/>
          <p:cNvSpPr/>
          <p:nvPr/>
        </p:nvSpPr>
        <p:spPr>
          <a:xfrm>
            <a:off x="7955280" y="1645920"/>
            <a:ext cx="3291840" cy="4389120"/>
          </a:xfrm>
          <a:prstGeom prst="roundRect">
            <a:avLst/>
          </a:prstGeom>
          <a:solidFill>
            <a:srgbClr val="FFFFFF"/>
          </a:solidFill>
          <a:ln w="12700">
            <a:solidFill>
              <a:srgbClr val="E5E7EB"/>
            </a:solidFill>
            <a:prstDash val="solid"/>
          </a:ln>
        </p:spPr>
      </p:sp>
      <p:sp>
        <p:nvSpPr>
          <p:cNvPr id="13" name="Text 11"/>
          <p:cNvSpPr/>
          <p:nvPr/>
        </p:nvSpPr>
        <p:spPr>
          <a:xfrm>
            <a:off x="822960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3. PerpetualRoyalties.rs</a:t>
            </a:r>
            <a:endParaRPr lang="en-US" sz="1300" dirty="0"/>
          </a:p>
        </p:txBody>
      </p:sp>
      <p:sp>
        <p:nvSpPr>
          <p:cNvPr id="14" name="Text 12"/>
          <p:cNvSpPr/>
          <p:nvPr/>
        </p:nvSpPr>
        <p:spPr>
          <a:xfrm>
            <a:off x="822960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Automated Secondary Resale Engine</a:t>
            </a:r>
            <a:endParaRPr lang="en-US" sz="1000" dirty="0"/>
          </a:p>
        </p:txBody>
      </p:sp>
      <p:sp>
        <p:nvSpPr>
          <p:cNvPr id="15" name="Text 13"/>
          <p:cNvSpPr/>
          <p:nvPr/>
        </p:nvSpPr>
        <p:spPr>
          <a:xfrm>
            <a:off x="822960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Enforces 10% perpetual royalties on gallery resales.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Routes funds directly to original artisan public key.</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Allocates 2% to Communal Assembly Treasury (Tequio).</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Protects collective indigenous cultural heritage.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CENTAUR MODEL: AI ORACLES &amp; INDIGENOUS GOVERNANCE</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Reconciling Customary Law (Usos y Costumbres) with Machine Intelligence</a:t>
            </a:r>
            <a:endParaRPr lang="en-US" sz="1400" dirty="0"/>
          </a:p>
        </p:txBody>
      </p:sp>
      <p:sp>
        <p:nvSpPr>
          <p:cNvPr id="4" name="Shape 2"/>
          <p:cNvSpPr/>
          <p:nvPr/>
        </p:nvSpPr>
        <p:spPr>
          <a:xfrm>
            <a:off x="731520" y="1645920"/>
            <a:ext cx="5029200" cy="3108960"/>
          </a:xfrm>
          <a:prstGeom prst="roundRect">
            <a:avLst/>
          </a:prstGeom>
          <a:solidFill>
            <a:srgbClr val="FFFFFF"/>
          </a:solidFill>
          <a:ln w="12700">
            <a:solidFill>
              <a:srgbClr val="E5E7EB"/>
            </a:solidFill>
            <a:prstDash val="solid"/>
          </a:ln>
        </p:spPr>
      </p:sp>
      <p:sp>
        <p:nvSpPr>
          <p:cNvPr id="5" name="Text 3"/>
          <p:cNvSpPr/>
          <p:nvPr/>
        </p:nvSpPr>
        <p:spPr>
          <a:xfrm>
            <a:off x="1005840" y="1920240"/>
            <a:ext cx="4480560" cy="320040"/>
          </a:xfrm>
          <a:prstGeom prst="rect">
            <a:avLst/>
          </a:prstGeom>
          <a:noFill/>
          <a:ln/>
        </p:spPr>
        <p:txBody>
          <a:bodyPr wrap="square" rtlCol="0" anchor="ctr"/>
          <a:lstStyle/>
          <a:p>
            <a:pPr indent="0" marL="0">
              <a:buNone/>
            </a:pPr>
            <a:r>
              <a:rPr lang="en-US" sz="1300" b="1" dirty="0">
                <a:solidFill>
                  <a:srgbClr val="1E40AF"/>
                </a:solidFill>
                <a:latin typeface="Arial" pitchFamily="34" charset="0"/>
                <a:ea typeface="Arial" pitchFamily="34" charset="-122"/>
                <a:cs typeface="Arial" pitchFamily="34" charset="-120"/>
              </a:rPr>
              <a:t>1. AUTONOMOUS AI ORACLES (Technical Rigor)</a:t>
            </a:r>
            <a:endParaRPr lang="en-US" sz="1300" dirty="0"/>
          </a:p>
        </p:txBody>
      </p:sp>
      <p:sp>
        <p:nvSpPr>
          <p:cNvPr id="6" name="Text 4"/>
          <p:cNvSpPr/>
          <p:nvPr/>
        </p:nvSpPr>
        <p:spPr>
          <a:xfrm>
            <a:off x="1005840" y="2286000"/>
            <a:ext cx="4480560" cy="2286000"/>
          </a:xfrm>
          <a:prstGeom prst="rect">
            <a:avLst/>
          </a:prstGeom>
          <a:noFill/>
          <a:ln/>
        </p:spPr>
        <p:txBody>
          <a:bodyPr wrap="square" rtlCol="0" anchor="ctr"/>
          <a:lstStyle/>
          <a:p>
            <a:pPr indent="0" marL="0">
              <a:lnSpc>
                <a:spcPts val="1500"/>
              </a:lnSpc>
              <a:buNone/>
            </a:pPr>
            <a:r>
              <a:rPr lang="en-US" sz="1100" b="1" dirty="0">
                <a:solidFill>
                  <a:srgbClr val="1C2421"/>
                </a:solidFill>
                <a:latin typeface="Arial" pitchFamily="34" charset="0"/>
                <a:ea typeface="Arial" pitchFamily="34" charset="-122"/>
                <a:cs typeface="Arial" pitchFamily="34" charset="-120"/>
              </a:rPr>
              <a:t>• AIEUDRSatelliteOracle: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Analyzes 5 years of Copernicus Sentinel-2 satellite imagery to certify EU Deforestation Regulation (EUDR) zero-deforestation.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AIQualityOracle: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Evaluates SCAA physical bean defect ratios and textile warp/weft density via computer vision models.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AIVoiceOracle: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Acoustic parser translating spoken indigenous Mixtec (Tu’un Savi) directly into canonical JSON payloads.</a:t>
            </a:r>
            <a:endParaRPr lang="en-US" sz="1100" dirty="0"/>
          </a:p>
        </p:txBody>
      </p:sp>
      <p:sp>
        <p:nvSpPr>
          <p:cNvPr id="7" name="Shape 5"/>
          <p:cNvSpPr/>
          <p:nvPr/>
        </p:nvSpPr>
        <p:spPr>
          <a:xfrm>
            <a:off x="6217920" y="1645920"/>
            <a:ext cx="5029200" cy="3108960"/>
          </a:xfrm>
          <a:prstGeom prst="roundRect">
            <a:avLst/>
          </a:prstGeom>
          <a:solidFill>
            <a:srgbClr val="FFFFFF"/>
          </a:solidFill>
          <a:ln w="12700">
            <a:solidFill>
              <a:srgbClr val="E5E7EB"/>
            </a:solidFill>
            <a:prstDash val="solid"/>
          </a:ln>
        </p:spPr>
      </p:sp>
      <p:sp>
        <p:nvSpPr>
          <p:cNvPr id="8" name="Text 6"/>
          <p:cNvSpPr/>
          <p:nvPr/>
        </p:nvSpPr>
        <p:spPr>
          <a:xfrm>
            <a:off x="6492240" y="1920240"/>
            <a:ext cx="4480560" cy="320040"/>
          </a:xfrm>
          <a:prstGeom prst="rect">
            <a:avLst/>
          </a:prstGeom>
          <a:noFill/>
          <a:ln/>
        </p:spPr>
        <p:txBody>
          <a:bodyPr wrap="square" rtlCol="0" anchor="ctr"/>
          <a:lstStyle/>
          <a:p>
            <a:pPr indent="0" marL="0">
              <a:buNone/>
            </a:pPr>
            <a:r>
              <a:rPr lang="en-US" sz="1300" b="1" dirty="0">
                <a:solidFill>
                  <a:srgbClr val="B45309"/>
                </a:solidFill>
                <a:latin typeface="Arial" pitchFamily="34" charset="0"/>
                <a:ea typeface="Arial" pitchFamily="34" charset="-122"/>
                <a:cs typeface="Arial" pitchFamily="34" charset="-120"/>
              </a:rPr>
              <a:t>2. COMMUNITY ELDER (Sovereign Authority)</a:t>
            </a:r>
            <a:endParaRPr lang="en-US" sz="1300" dirty="0"/>
          </a:p>
        </p:txBody>
      </p:sp>
      <p:sp>
        <p:nvSpPr>
          <p:cNvPr id="9" name="Text 7"/>
          <p:cNvSpPr/>
          <p:nvPr/>
        </p:nvSpPr>
        <p:spPr>
          <a:xfrm>
            <a:off x="6492240" y="2286000"/>
            <a:ext cx="4480560" cy="2286000"/>
          </a:xfrm>
          <a:prstGeom prst="rect">
            <a:avLst/>
          </a:prstGeom>
          <a:noFill/>
          <a:ln/>
        </p:spPr>
        <p:txBody>
          <a:bodyPr wrap="square" rtlCol="0" anchor="ctr"/>
          <a:lstStyle/>
          <a:p>
            <a:pPr indent="0" marL="0">
              <a:lnSpc>
                <a:spcPts val="1500"/>
              </a:lnSpc>
              <a:buNone/>
            </a:pPr>
            <a:r>
              <a:rPr lang="en-US" sz="1100" b="1" dirty="0">
                <a:solidFill>
                  <a:srgbClr val="1C2421"/>
                </a:solidFill>
                <a:latin typeface="Arial" pitchFamily="34" charset="0"/>
                <a:ea typeface="Arial" pitchFamily="34" charset="-122"/>
                <a:cs typeface="Arial" pitchFamily="34" charset="-120"/>
              </a:rPr>
              <a:t>• Master Weavers (Triqui, Xochixtlán): </a:t>
            </a:r>
            <a:pPr indent="0" marL="0">
              <a:lnSpc>
                <a:spcPts val="1500"/>
              </a:lnSpc>
              <a:buNone/>
            </a:pPr>
            <a:r>
              <a:rPr lang="en-US" sz="1100" dirty="0">
                <a:solidFill>
                  <a:srgbClr val="1C2421"/>
                </a:solidFill>
                <a:latin typeface="Arial" pitchFamily="34" charset="0"/>
                <a:ea typeface="Arial" pitchFamily="34" charset="-122"/>
                <a:cs typeface="Arial" pitchFamily="34" charset="-120"/>
              </a:rPr>
              <a:t>Inspects tactile backstrap loom tension, natural dye purity (cochineal/indigo), and sacred iconography.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Master Palenqueros (Don Celso / David Mendoza): </a:t>
            </a:r>
            <a:pPr indent="0" marL="0">
              <a:lnSpc>
                <a:spcPts val="1500"/>
              </a:lnSpc>
              <a:buNone/>
            </a:pPr>
            <a:r>
              <a:rPr lang="en-US" sz="1100" dirty="0">
                <a:solidFill>
                  <a:srgbClr val="1C2421"/>
                </a:solidFill>
                <a:latin typeface="Arial" pitchFamily="34" charset="0"/>
                <a:ea typeface="Arial" pitchFamily="34" charset="-122"/>
                <a:cs typeface="Arial" pitchFamily="34" charset="-120"/>
              </a:rPr>
              <a:t>Performs bubble bead testing (perlita) and sensory distillation purity checks.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Agrarian Elders &amp; Tequio Assembly: </a:t>
            </a:r>
            <a:pPr indent="0" marL="0">
              <a:lnSpc>
                <a:spcPts val="1500"/>
              </a:lnSpc>
              <a:buNone/>
            </a:pPr>
            <a:r>
              <a:rPr lang="en-US" sz="1100" dirty="0">
                <a:solidFill>
                  <a:srgbClr val="1C2421"/>
                </a:solidFill>
                <a:latin typeface="Arial" pitchFamily="34" charset="0"/>
                <a:ea typeface="Arial" pitchFamily="34" charset="-122"/>
                <a:cs typeface="Arial" pitchFamily="34" charset="-120"/>
              </a:rPr>
              <a:t>Signs physical batch acceptance using registered Ed25519 keypairs under Mexican Indigenous Protection Law.</a:t>
            </a:r>
            <a:endParaRPr lang="en-US" sz="1100" dirty="0"/>
          </a:p>
        </p:txBody>
      </p:sp>
      <p:sp>
        <p:nvSpPr>
          <p:cNvPr id="10" name="Shape 8"/>
          <p:cNvSpPr/>
          <p:nvPr/>
        </p:nvSpPr>
        <p:spPr>
          <a:xfrm>
            <a:off x="731520" y="4983480"/>
            <a:ext cx="10515600" cy="1143000"/>
          </a:xfrm>
          <a:prstGeom prst="roundRect">
            <a:avLst/>
          </a:prstGeom>
          <a:solidFill>
            <a:srgbClr val="0A3825"/>
          </a:solidFill>
          <a:ln w="19050">
            <a:solidFill>
              <a:srgbClr val="10B981"/>
            </a:solidFill>
            <a:prstDash val="solid"/>
          </a:ln>
        </p:spPr>
      </p:sp>
      <p:sp>
        <p:nvSpPr>
          <p:cNvPr id="11" name="Text 9"/>
          <p:cNvSpPr/>
          <p:nvPr/>
        </p:nvSpPr>
        <p:spPr>
          <a:xfrm>
            <a:off x="1005840" y="5120640"/>
            <a:ext cx="9966960" cy="27432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THE DUAL-LOCK ON-CHAIN GUARANTEE</a:t>
            </a:r>
            <a:endParaRPr lang="en-US" sz="1200" dirty="0"/>
          </a:p>
        </p:txBody>
      </p:sp>
      <p:sp>
        <p:nvSpPr>
          <p:cNvPr id="12" name="Text 10"/>
          <p:cNvSpPr/>
          <p:nvPr/>
        </p:nvSpPr>
        <p:spPr>
          <a:xfrm>
            <a:off x="1005840" y="5394960"/>
            <a:ext cx="9966960" cy="594360"/>
          </a:xfrm>
          <a:prstGeom prst="rect">
            <a:avLst/>
          </a:prstGeom>
          <a:noFill/>
          <a:ln/>
        </p:spPr>
        <p:txBody>
          <a:bodyPr wrap="square" rtlCol="0" anchor="ctr"/>
          <a:lstStyle/>
          <a:p>
            <a:pPr indent="0" marL="0">
              <a:lnSpc>
                <a:spcPts val="1600"/>
              </a:lnSpc>
              <a:buNone/>
            </a:pPr>
            <a:r>
              <a:rPr lang="en-US" sz="1100" dirty="0">
                <a:solidFill>
                  <a:srgbClr val="FFFFFF"/>
                </a:solidFill>
                <a:latin typeface="Arial" pitchFamily="34" charset="0"/>
                <a:ea typeface="Arial" pitchFamily="34" charset="-122"/>
                <a:cs typeface="Arial" pitchFamily="34" charset="-120"/>
              </a:rPr>
              <a:t>Neither the AI Oracle nor the human elder can unlock FairEscrow alone. Funds are disbursed ONLY when both cryptographic signatures concur on Soroban, eliminating both algorithmic bias and local corruption.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PHYSICAL ANCHOR: DIGITAL PASSPORT &amp; ISO/IEC 18004 QR</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Connecting the Physical Asset to the Stellar Ledger in Under 2 Seconds</a:t>
            </a:r>
            <a:endParaRPr lang="en-US" sz="1400" dirty="0"/>
          </a:p>
        </p:txBody>
      </p:sp>
      <p:sp>
        <p:nvSpPr>
          <p:cNvPr id="4" name="Shape 2"/>
          <p:cNvSpPr/>
          <p:nvPr/>
        </p:nvSpPr>
        <p:spPr>
          <a:xfrm>
            <a:off x="731520" y="1645920"/>
            <a:ext cx="2468880" cy="4389120"/>
          </a:xfrm>
          <a:prstGeom prst="roundRect">
            <a:avLst/>
          </a:prstGeom>
          <a:solidFill>
            <a:srgbClr val="FFFFFF"/>
          </a:solidFill>
          <a:ln w="12700">
            <a:solidFill>
              <a:srgbClr val="E5E7EB"/>
            </a:solidFill>
            <a:prstDash val="solid"/>
          </a:ln>
        </p:spPr>
      </p:sp>
      <p:sp>
        <p:nvSpPr>
          <p:cNvPr id="5" name="Text 3"/>
          <p:cNvSpPr/>
          <p:nvPr/>
        </p:nvSpPr>
        <p:spPr>
          <a:xfrm>
            <a:off x="91440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01</a:t>
            </a:r>
            <a:endParaRPr lang="en-US" sz="2800" dirty="0"/>
          </a:p>
        </p:txBody>
      </p:sp>
      <p:sp>
        <p:nvSpPr>
          <p:cNvPr id="6" name="Text 4"/>
          <p:cNvSpPr/>
          <p:nvPr/>
        </p:nvSpPr>
        <p:spPr>
          <a:xfrm>
            <a:off x="91440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PHYSICAL HANG-TAG</a:t>
            </a:r>
            <a:endParaRPr lang="en-US" sz="1200" dirty="0"/>
          </a:p>
        </p:txBody>
      </p:sp>
      <p:sp>
        <p:nvSpPr>
          <p:cNvPr id="7" name="Text 5"/>
          <p:cNvSpPr/>
          <p:nvPr/>
        </p:nvSpPr>
        <p:spPr>
          <a:xfrm>
            <a:off x="91440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Vector-rendered ISO/IEC 18004 QR codes printed on biodegradable kraft paper and affixed to textiles, coffee sacks, or bottles.</a:t>
            </a:r>
            <a:endParaRPr lang="en-US" sz="1100" dirty="0"/>
          </a:p>
        </p:txBody>
      </p:sp>
      <p:sp>
        <p:nvSpPr>
          <p:cNvPr id="8" name="Shape 6"/>
          <p:cNvSpPr/>
          <p:nvPr/>
        </p:nvSpPr>
        <p:spPr>
          <a:xfrm>
            <a:off x="3429000" y="1645920"/>
            <a:ext cx="2468880" cy="4389120"/>
          </a:xfrm>
          <a:prstGeom prst="roundRect">
            <a:avLst/>
          </a:prstGeom>
          <a:solidFill>
            <a:srgbClr val="FFFFFF"/>
          </a:solidFill>
          <a:ln w="12700">
            <a:solidFill>
              <a:srgbClr val="E5E7EB"/>
            </a:solidFill>
            <a:prstDash val="solid"/>
          </a:ln>
        </p:spPr>
      </p:sp>
      <p:sp>
        <p:nvSpPr>
          <p:cNvPr id="9" name="Text 7"/>
          <p:cNvSpPr/>
          <p:nvPr/>
        </p:nvSpPr>
        <p:spPr>
          <a:xfrm>
            <a:off x="361188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02</a:t>
            </a:r>
            <a:endParaRPr lang="en-US" sz="2800" dirty="0"/>
          </a:p>
        </p:txBody>
      </p:sp>
      <p:sp>
        <p:nvSpPr>
          <p:cNvPr id="10" name="Text 8"/>
          <p:cNvSpPr/>
          <p:nvPr/>
        </p:nvSpPr>
        <p:spPr>
          <a:xfrm>
            <a:off x="361188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INSTANT SCAN</a:t>
            </a:r>
            <a:endParaRPr lang="en-US" sz="1200" dirty="0"/>
          </a:p>
        </p:txBody>
      </p:sp>
      <p:sp>
        <p:nvSpPr>
          <p:cNvPr id="11" name="Text 9"/>
          <p:cNvSpPr/>
          <p:nvPr/>
        </p:nvSpPr>
        <p:spPr>
          <a:xfrm>
            <a:off x="361188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Any smartphone camera in Lisbon, NYC, or Tokyo scans the tag without installing third-party apps or creating crypto accounts.</a:t>
            </a:r>
            <a:endParaRPr lang="en-US" sz="1100" dirty="0"/>
          </a:p>
        </p:txBody>
      </p:sp>
      <p:sp>
        <p:nvSpPr>
          <p:cNvPr id="12" name="Shape 10"/>
          <p:cNvSpPr/>
          <p:nvPr/>
        </p:nvSpPr>
        <p:spPr>
          <a:xfrm>
            <a:off x="6126480" y="1645920"/>
            <a:ext cx="2468880" cy="4389120"/>
          </a:xfrm>
          <a:prstGeom prst="roundRect">
            <a:avLst/>
          </a:prstGeom>
          <a:solidFill>
            <a:srgbClr val="FFFFFF"/>
          </a:solidFill>
          <a:ln w="12700">
            <a:solidFill>
              <a:srgbClr val="E5E7EB"/>
            </a:solidFill>
            <a:prstDash val="solid"/>
          </a:ln>
        </p:spPr>
      </p:sp>
      <p:sp>
        <p:nvSpPr>
          <p:cNvPr id="13" name="Text 11"/>
          <p:cNvSpPr/>
          <p:nvPr/>
        </p:nvSpPr>
        <p:spPr>
          <a:xfrm>
            <a:off x="630936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03</a:t>
            </a:r>
            <a:endParaRPr lang="en-US" sz="2800" dirty="0"/>
          </a:p>
        </p:txBody>
      </p:sp>
      <p:sp>
        <p:nvSpPr>
          <p:cNvPr id="14" name="Text 12"/>
          <p:cNvSpPr/>
          <p:nvPr/>
        </p:nvSpPr>
        <p:spPr>
          <a:xfrm>
            <a:off x="630936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ORAL TESTIMONY</a:t>
            </a:r>
            <a:endParaRPr lang="en-US" sz="1200" dirty="0"/>
          </a:p>
        </p:txBody>
      </p:sp>
      <p:sp>
        <p:nvSpPr>
          <p:cNvPr id="15" name="Text 13"/>
          <p:cNvSpPr/>
          <p:nvPr/>
        </p:nvSpPr>
        <p:spPr>
          <a:xfrm>
            <a:off x="630936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The consumer listens to the weaver speak in her native Tu’un Savi language, validating the cultural meaning behind every motif.</a:t>
            </a:r>
            <a:endParaRPr lang="en-US" sz="1100" dirty="0"/>
          </a:p>
        </p:txBody>
      </p:sp>
      <p:sp>
        <p:nvSpPr>
          <p:cNvPr id="16" name="Shape 14"/>
          <p:cNvSpPr/>
          <p:nvPr/>
        </p:nvSpPr>
        <p:spPr>
          <a:xfrm>
            <a:off x="8823960" y="1645920"/>
            <a:ext cx="2468880" cy="4389120"/>
          </a:xfrm>
          <a:prstGeom prst="roundRect">
            <a:avLst/>
          </a:prstGeom>
          <a:solidFill>
            <a:srgbClr val="FFFFFF"/>
          </a:solidFill>
          <a:ln w="12700">
            <a:solidFill>
              <a:srgbClr val="E5E7EB"/>
            </a:solidFill>
            <a:prstDash val="solid"/>
          </a:ln>
        </p:spPr>
      </p:sp>
      <p:sp>
        <p:nvSpPr>
          <p:cNvPr id="17" name="Text 15"/>
          <p:cNvSpPr/>
          <p:nvPr/>
        </p:nvSpPr>
        <p:spPr>
          <a:xfrm>
            <a:off x="900684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04</a:t>
            </a:r>
            <a:endParaRPr lang="en-US" sz="2800" dirty="0"/>
          </a:p>
        </p:txBody>
      </p:sp>
      <p:sp>
        <p:nvSpPr>
          <p:cNvPr id="18" name="Text 16"/>
          <p:cNvSpPr/>
          <p:nvPr/>
        </p:nvSpPr>
        <p:spPr>
          <a:xfrm>
            <a:off x="900684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ON-CHAIN PROOF</a:t>
            </a:r>
            <a:endParaRPr lang="en-US" sz="1200" dirty="0"/>
          </a:p>
        </p:txBody>
      </p:sp>
      <p:sp>
        <p:nvSpPr>
          <p:cNvPr id="19" name="Text 17"/>
          <p:cNvSpPr/>
          <p:nvPr/>
        </p:nvSpPr>
        <p:spPr>
          <a:xfrm>
            <a:off x="900684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Displays the immutable Stellar block sequence, GPS parcel polygon, SCAA/EUDR badges, and proof of 98% direct payment.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INVISIBLE WEB3: ZERO-SEED-PHRASE LAST-MILE LIQUIDITY</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How Rural Producers Transact Without Bank Accounts or Internet Friction</a:t>
            </a:r>
            <a:endParaRPr lang="en-US" sz="1400" dirty="0"/>
          </a:p>
        </p:txBody>
      </p:sp>
      <p:sp>
        <p:nvSpPr>
          <p:cNvPr id="4" name="Shape 2"/>
          <p:cNvSpPr/>
          <p:nvPr/>
        </p:nvSpPr>
        <p:spPr>
          <a:xfrm>
            <a:off x="731520" y="1645920"/>
            <a:ext cx="10515600" cy="777240"/>
          </a:xfrm>
          <a:prstGeom prst="roundRect">
            <a:avLst/>
          </a:prstGeom>
          <a:solidFill>
            <a:srgbClr val="FFFFFF"/>
          </a:solidFill>
          <a:ln w="12700">
            <a:solidFill>
              <a:srgbClr val="E5E7EB"/>
            </a:solidFill>
            <a:prstDash val="solid"/>
          </a:ln>
        </p:spPr>
      </p:sp>
      <p:sp>
        <p:nvSpPr>
          <p:cNvPr id="5" name="Text 3"/>
          <p:cNvSpPr/>
          <p:nvPr/>
        </p:nvSpPr>
        <p:spPr>
          <a:xfrm>
            <a:off x="1005840" y="178308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Acoustic Zero-Typing UI</a:t>
            </a:r>
            <a:endParaRPr lang="en-US" sz="1300" dirty="0"/>
          </a:p>
        </p:txBody>
      </p:sp>
      <p:sp>
        <p:nvSpPr>
          <p:cNvPr id="6" name="Text 4"/>
          <p:cNvSpPr/>
          <p:nvPr/>
        </p:nvSpPr>
        <p:spPr>
          <a:xfrm>
            <a:off x="4297680" y="175564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Elderly producers speak naturally in Mixtec (Tu’un Savi) or Spanish. The AI parser extracts batch kilos, technique, and parcel without touching a keyboard.</a:t>
            </a:r>
            <a:endParaRPr lang="en-US" sz="1100" dirty="0"/>
          </a:p>
        </p:txBody>
      </p:sp>
      <p:sp>
        <p:nvSpPr>
          <p:cNvPr id="7" name="Shape 5"/>
          <p:cNvSpPr/>
          <p:nvPr/>
        </p:nvSpPr>
        <p:spPr>
          <a:xfrm>
            <a:off x="731520" y="2514600"/>
            <a:ext cx="10515600" cy="777240"/>
          </a:xfrm>
          <a:prstGeom prst="roundRect">
            <a:avLst/>
          </a:prstGeom>
          <a:solidFill>
            <a:srgbClr val="FFFFFF"/>
          </a:solidFill>
          <a:ln w="12700">
            <a:solidFill>
              <a:srgbClr val="E5E7EB"/>
            </a:solidFill>
            <a:prstDash val="solid"/>
          </a:ln>
        </p:spPr>
      </p:sp>
      <p:sp>
        <p:nvSpPr>
          <p:cNvPr id="8" name="Text 6"/>
          <p:cNvSpPr/>
          <p:nvPr/>
        </p:nvSpPr>
        <p:spPr>
          <a:xfrm>
            <a:off x="1005840" y="265176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Keyless Identity (DID)</a:t>
            </a:r>
            <a:endParaRPr lang="en-US" sz="1300" dirty="0"/>
          </a:p>
        </p:txBody>
      </p:sp>
      <p:sp>
        <p:nvSpPr>
          <p:cNvPr id="9" name="Text 7"/>
          <p:cNvSpPr/>
          <p:nvPr/>
        </p:nvSpPr>
        <p:spPr>
          <a:xfrm>
            <a:off x="4297680" y="262432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Laminated physical QR Identity Cards (Carnet de Productor) or SMS OTPs. Zero English seed phrases to memorize or lose.</a:t>
            </a:r>
            <a:endParaRPr lang="en-US" sz="1100" dirty="0"/>
          </a:p>
        </p:txBody>
      </p:sp>
      <p:sp>
        <p:nvSpPr>
          <p:cNvPr id="10" name="Shape 8"/>
          <p:cNvSpPr/>
          <p:nvPr/>
        </p:nvSpPr>
        <p:spPr>
          <a:xfrm>
            <a:off x="731520" y="3383280"/>
            <a:ext cx="10515600" cy="777240"/>
          </a:xfrm>
          <a:prstGeom prst="roundRect">
            <a:avLst/>
          </a:prstGeom>
          <a:solidFill>
            <a:srgbClr val="FFFFFF"/>
          </a:solidFill>
          <a:ln w="12700">
            <a:solidFill>
              <a:srgbClr val="E5E7EB"/>
            </a:solidFill>
            <a:prstDash val="solid"/>
          </a:ln>
        </p:spPr>
      </p:sp>
      <p:sp>
        <p:nvSpPr>
          <p:cNvPr id="11" name="Text 9"/>
          <p:cNvSpPr/>
          <p:nvPr/>
        </p:nvSpPr>
        <p:spPr>
          <a:xfrm>
            <a:off x="1005840" y="352044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Etherfuse Banxico SPEI Rail</a:t>
            </a:r>
            <a:endParaRPr lang="en-US" sz="1300" dirty="0"/>
          </a:p>
        </p:txBody>
      </p:sp>
      <p:sp>
        <p:nvSpPr>
          <p:cNvPr id="12" name="Text 10"/>
          <p:cNvSpPr/>
          <p:nvPr/>
        </p:nvSpPr>
        <p:spPr>
          <a:xfrm>
            <a:off x="4297680" y="349300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International buyer USDC is routed through Stellar Path Payments to MXNe and deposited via SPEI into government Banco del Bienestar debit cards.</a:t>
            </a:r>
            <a:endParaRPr lang="en-US" sz="1100" dirty="0"/>
          </a:p>
        </p:txBody>
      </p:sp>
      <p:sp>
        <p:nvSpPr>
          <p:cNvPr id="13" name="Shape 11"/>
          <p:cNvSpPr/>
          <p:nvPr/>
        </p:nvSpPr>
        <p:spPr>
          <a:xfrm>
            <a:off x="731520" y="4251960"/>
            <a:ext cx="10515600" cy="777240"/>
          </a:xfrm>
          <a:prstGeom prst="roundRect">
            <a:avLst/>
          </a:prstGeom>
          <a:solidFill>
            <a:srgbClr val="FFFFFF"/>
          </a:solidFill>
          <a:ln w="12700">
            <a:solidFill>
              <a:srgbClr val="E5E7EB"/>
            </a:solidFill>
            <a:prstDash val="solid"/>
          </a:ln>
        </p:spPr>
      </p:sp>
      <p:sp>
        <p:nvSpPr>
          <p:cNvPr id="14" name="Text 12"/>
          <p:cNvSpPr/>
          <p:nvPr/>
        </p:nvSpPr>
        <p:spPr>
          <a:xfrm>
            <a:off x="1005840" y="438912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MicoPay Mobile Cash Rail</a:t>
            </a:r>
            <a:endParaRPr lang="en-US" sz="1300" dirty="0"/>
          </a:p>
        </p:txBody>
      </p:sp>
      <p:sp>
        <p:nvSpPr>
          <p:cNvPr id="15" name="Text 13"/>
          <p:cNvSpPr/>
          <p:nvPr/>
        </p:nvSpPr>
        <p:spPr>
          <a:xfrm>
            <a:off x="4297680" y="436168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Trusted local carriers and cooperative merchants act as cash disbursement nodes, delivering physical pesos in mountain hamlets upon QR scan.</a:t>
            </a:r>
            <a:endParaRPr lang="en-US" sz="1100" dirty="0"/>
          </a:p>
        </p:txBody>
      </p:sp>
      <p:sp>
        <p:nvSpPr>
          <p:cNvPr id="16" name="Shape 14"/>
          <p:cNvSpPr/>
          <p:nvPr/>
        </p:nvSpPr>
        <p:spPr>
          <a:xfrm>
            <a:off x="731520" y="5120640"/>
            <a:ext cx="10515600" cy="777240"/>
          </a:xfrm>
          <a:prstGeom prst="roundRect">
            <a:avLst/>
          </a:prstGeom>
          <a:solidFill>
            <a:srgbClr val="FFFFFF"/>
          </a:solidFill>
          <a:ln w="12700">
            <a:solidFill>
              <a:srgbClr val="E5E7EB"/>
            </a:solidFill>
            <a:prstDash val="solid"/>
          </a:ln>
        </p:spPr>
      </p:sp>
      <p:sp>
        <p:nvSpPr>
          <p:cNvPr id="17" name="Text 15"/>
          <p:cNvSpPr/>
          <p:nvPr/>
        </p:nvSpPr>
        <p:spPr>
          <a:xfrm>
            <a:off x="1005840" y="525780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Fee-Bump Relayer (CAP-0015)</a:t>
            </a:r>
            <a:endParaRPr lang="en-US" sz="1300" dirty="0"/>
          </a:p>
        </p:txBody>
      </p:sp>
      <p:sp>
        <p:nvSpPr>
          <p:cNvPr id="18" name="Text 16"/>
          <p:cNvSpPr/>
          <p:nvPr/>
        </p:nvSpPr>
        <p:spPr>
          <a:xfrm>
            <a:off x="4297680" y="523036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The Yucu relayer engine sponsors 100% of network transaction fees. Rural producers never purchase, hold, or calculate gas in XLM.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BUSINESS MODEL &amp; MARKET VALIDATION (TECH REBEL B2B2C)</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Monetizing Institutional Demand While Protecting Primary Producers</a:t>
            </a:r>
            <a:endParaRPr lang="en-US" sz="1400" dirty="0"/>
          </a:p>
        </p:txBody>
      </p:sp>
      <p:sp>
        <p:nvSpPr>
          <p:cNvPr id="4" name="Shape 2"/>
          <p:cNvSpPr/>
          <p:nvPr/>
        </p:nvSpPr>
        <p:spPr>
          <a:xfrm>
            <a:off x="731520" y="1645920"/>
            <a:ext cx="329184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SUPPLY MOAT</a:t>
            </a:r>
            <a:endParaRPr lang="en-US" sz="1000" dirty="0"/>
          </a:p>
        </p:txBody>
      </p:sp>
      <p:sp>
        <p:nvSpPr>
          <p:cNvPr id="6" name="Text 4"/>
          <p:cNvSpPr/>
          <p:nvPr/>
        </p:nvSpPr>
        <p:spPr>
          <a:xfrm>
            <a:off x="100584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Indigenous Producers</a:t>
            </a:r>
            <a:endParaRPr lang="en-US" sz="1300" dirty="0"/>
          </a:p>
        </p:txBody>
      </p:sp>
      <p:sp>
        <p:nvSpPr>
          <p:cNvPr id="7" name="Shape 5"/>
          <p:cNvSpPr/>
          <p:nvPr/>
        </p:nvSpPr>
        <p:spPr>
          <a:xfrm>
            <a:off x="1005840" y="2560320"/>
            <a:ext cx="2743200" cy="320040"/>
          </a:xfrm>
          <a:prstGeom prst="roundRect">
            <a:avLst/>
          </a:prstGeom>
          <a:solidFill>
            <a:srgbClr val="F3F4F6"/>
          </a:solidFill>
          <a:ln w="12700">
            <a:solidFill>
              <a:srgbClr val="D1D5DB"/>
            </a:solidFill>
            <a:prstDash val="solid"/>
          </a:ln>
        </p:spPr>
      </p:sp>
      <p:sp>
        <p:nvSpPr>
          <p:cNvPr id="8" name="Text 6"/>
          <p:cNvSpPr/>
          <p:nvPr/>
        </p:nvSpPr>
        <p:spPr>
          <a:xfrm>
            <a:off x="100584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0% Platform Fee</a:t>
            </a:r>
            <a:endParaRPr lang="en-US" sz="1100" dirty="0"/>
          </a:p>
        </p:txBody>
      </p:sp>
      <p:sp>
        <p:nvSpPr>
          <p:cNvPr id="9" name="Text 7"/>
          <p:cNvSpPr/>
          <p:nvPr/>
        </p:nvSpPr>
        <p:spPr>
          <a:xfrm>
            <a:off x="100584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50+ pilot producers in Oaxaca.</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Retain 98% of direct wholesale price.</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Guaranteed 10% perpetual secondary resale royalty.</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2% allocated to community Tequio public works.</a:t>
            </a:r>
            <a:endParaRPr lang="en-US" sz="1100" dirty="0"/>
          </a:p>
        </p:txBody>
      </p:sp>
      <p:sp>
        <p:nvSpPr>
          <p:cNvPr id="10" name="Shape 8"/>
          <p:cNvSpPr/>
          <p:nvPr/>
        </p:nvSpPr>
        <p:spPr>
          <a:xfrm>
            <a:off x="4343400" y="1645920"/>
            <a:ext cx="3291840" cy="4389120"/>
          </a:xfrm>
          <a:prstGeom prst="roundRect">
            <a:avLst/>
          </a:prstGeom>
          <a:solidFill>
            <a:srgbClr val="FFFFFF"/>
          </a:solidFill>
          <a:ln w="12700">
            <a:solidFill>
              <a:srgbClr val="E5E7EB"/>
            </a:solidFill>
            <a:prstDash val="solid"/>
          </a:ln>
        </p:spPr>
      </p:sp>
      <p:sp>
        <p:nvSpPr>
          <p:cNvPr id="11" name="Text 9"/>
          <p:cNvSpPr/>
          <p:nvPr/>
        </p:nvSpPr>
        <p:spPr>
          <a:xfrm>
            <a:off x="461772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PAYING B2B CLIENTS</a:t>
            </a:r>
            <a:endParaRPr lang="en-US" sz="1000" dirty="0"/>
          </a:p>
        </p:txBody>
      </p:sp>
      <p:sp>
        <p:nvSpPr>
          <p:cNvPr id="12" name="Text 10"/>
          <p:cNvSpPr/>
          <p:nvPr/>
        </p:nvSpPr>
        <p:spPr>
          <a:xfrm>
            <a:off x="461772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Institutional Buyers (SMBs)</a:t>
            </a:r>
            <a:endParaRPr lang="en-US" sz="1300" dirty="0"/>
          </a:p>
        </p:txBody>
      </p:sp>
      <p:sp>
        <p:nvSpPr>
          <p:cNvPr id="13" name="Shape 11"/>
          <p:cNvSpPr/>
          <p:nvPr/>
        </p:nvSpPr>
        <p:spPr>
          <a:xfrm>
            <a:off x="4617720" y="2560320"/>
            <a:ext cx="2743200" cy="320040"/>
          </a:xfrm>
          <a:prstGeom prst="roundRect">
            <a:avLst/>
          </a:prstGeom>
          <a:solidFill>
            <a:srgbClr val="F3F4F6"/>
          </a:solidFill>
          <a:ln w="12700">
            <a:solidFill>
              <a:srgbClr val="D1D5DB"/>
            </a:solidFill>
            <a:prstDash val="solid"/>
          </a:ln>
        </p:spPr>
      </p:sp>
      <p:sp>
        <p:nvSpPr>
          <p:cNvPr id="14" name="Text 12"/>
          <p:cNvSpPr/>
          <p:nvPr/>
        </p:nvSpPr>
        <p:spPr>
          <a:xfrm>
            <a:off x="461772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1.5% - 2.5% Compliance Fee</a:t>
            </a:r>
            <a:endParaRPr lang="en-US" sz="1100" dirty="0"/>
          </a:p>
        </p:txBody>
      </p:sp>
      <p:sp>
        <p:nvSpPr>
          <p:cNvPr id="15" name="Text 13"/>
          <p:cNvSpPr/>
          <p:nvPr/>
        </p:nvSpPr>
        <p:spPr>
          <a:xfrm>
            <a:off x="461772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Specialty coffee micro-roasters in EU/US.</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Ethical fashion boutiques &amp; luxury galleries.</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Urgent need for EUDR zero-deforestation compliance (fines up to 4% EU turnover).</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Immunity against cultural appropriation lawsuits.</a:t>
            </a:r>
            <a:endParaRPr lang="en-US" sz="1100" dirty="0"/>
          </a:p>
        </p:txBody>
      </p:sp>
      <p:sp>
        <p:nvSpPr>
          <p:cNvPr id="16" name="Shape 14"/>
          <p:cNvSpPr/>
          <p:nvPr/>
        </p:nvSpPr>
        <p:spPr>
          <a:xfrm>
            <a:off x="7955280" y="1645920"/>
            <a:ext cx="3291840" cy="4389120"/>
          </a:xfrm>
          <a:prstGeom prst="roundRect">
            <a:avLst/>
          </a:prstGeom>
          <a:solidFill>
            <a:srgbClr val="FFFFFF"/>
          </a:solidFill>
          <a:ln w="12700">
            <a:solidFill>
              <a:srgbClr val="E5E7EB"/>
            </a:solidFill>
            <a:prstDash val="solid"/>
          </a:ln>
        </p:spPr>
      </p:sp>
      <p:sp>
        <p:nvSpPr>
          <p:cNvPr id="17" name="Text 15"/>
          <p:cNvSpPr/>
          <p:nvPr/>
        </p:nvSpPr>
        <p:spPr>
          <a:xfrm>
            <a:off x="822960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END CONSUMER</a:t>
            </a:r>
            <a:endParaRPr lang="en-US" sz="1000" dirty="0"/>
          </a:p>
        </p:txBody>
      </p:sp>
      <p:sp>
        <p:nvSpPr>
          <p:cNvPr id="18" name="Text 16"/>
          <p:cNvSpPr/>
          <p:nvPr/>
        </p:nvSpPr>
        <p:spPr>
          <a:xfrm>
            <a:off x="822960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Conscious Verifiers</a:t>
            </a:r>
            <a:endParaRPr lang="en-US" sz="1300" dirty="0"/>
          </a:p>
        </p:txBody>
      </p:sp>
      <p:sp>
        <p:nvSpPr>
          <p:cNvPr id="19" name="Shape 17"/>
          <p:cNvSpPr/>
          <p:nvPr/>
        </p:nvSpPr>
        <p:spPr>
          <a:xfrm>
            <a:off x="8229600" y="2560320"/>
            <a:ext cx="2743200" cy="320040"/>
          </a:xfrm>
          <a:prstGeom prst="roundRect">
            <a:avLst/>
          </a:prstGeom>
          <a:solidFill>
            <a:srgbClr val="F3F4F6"/>
          </a:solidFill>
          <a:ln w="12700">
            <a:solidFill>
              <a:srgbClr val="D1D5DB"/>
            </a:solidFill>
            <a:prstDash val="solid"/>
          </a:ln>
        </p:spPr>
      </p:sp>
      <p:sp>
        <p:nvSpPr>
          <p:cNvPr id="20" name="Text 18"/>
          <p:cNvSpPr/>
          <p:nvPr/>
        </p:nvSpPr>
        <p:spPr>
          <a:xfrm>
            <a:off x="822960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Direct Retail Premium</a:t>
            </a:r>
            <a:endParaRPr lang="en-US" sz="1100" dirty="0"/>
          </a:p>
        </p:txBody>
      </p:sp>
      <p:sp>
        <p:nvSpPr>
          <p:cNvPr id="21" name="Text 19"/>
          <p:cNvSpPr/>
          <p:nvPr/>
        </p:nvSpPr>
        <p:spPr>
          <a:xfrm>
            <a:off x="822960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High-net-worth conscious consumers in Lisbon, Zurich, NYC, CDMX.</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Willing to pay 30%-50% premium for verified ethical heritage.</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Scan QR hang-tag for proof of origin.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PRODUCTION TRACTION: CODE, TESTS &amp; ACADEMIC BACKING</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Engineered by Open Hub TecNM: Mexico’s National Technological Engine</a:t>
            </a:r>
            <a:endParaRPr lang="en-US" sz="1400" dirty="0"/>
          </a:p>
        </p:txBody>
      </p:sp>
      <p:sp>
        <p:nvSpPr>
          <p:cNvPr id="4" name="Shape 2"/>
          <p:cNvSpPr/>
          <p:nvPr/>
        </p:nvSpPr>
        <p:spPr>
          <a:xfrm>
            <a:off x="731520" y="1645920"/>
            <a:ext cx="5120640" cy="2057400"/>
          </a:xfrm>
          <a:prstGeom prst="roundRect">
            <a:avLst/>
          </a:prstGeom>
          <a:solidFill>
            <a:srgbClr val="FFFFFF"/>
          </a:solidFill>
          <a:ln w="12700">
            <a:solidFill>
              <a:srgbClr val="E5E7EB"/>
            </a:solidFill>
            <a:prstDash val="solid"/>
          </a:ln>
        </p:spPr>
      </p:sp>
      <p:sp>
        <p:nvSpPr>
          <p:cNvPr id="5" name="Text 3"/>
          <p:cNvSpPr/>
          <p:nvPr/>
        </p:nvSpPr>
        <p:spPr>
          <a:xfrm>
            <a:off x="1005840" y="182880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52 / 52</a:t>
            </a:r>
            <a:endParaRPr lang="en-US" sz="2600" dirty="0"/>
          </a:p>
        </p:txBody>
      </p:sp>
      <p:sp>
        <p:nvSpPr>
          <p:cNvPr id="6" name="Text 4"/>
          <p:cNvSpPr/>
          <p:nvPr/>
        </p:nvSpPr>
        <p:spPr>
          <a:xfrm>
            <a:off x="1005840" y="233172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Automated CI Tests Passing</a:t>
            </a:r>
            <a:endParaRPr lang="en-US" sz="1300" dirty="0"/>
          </a:p>
        </p:txBody>
      </p:sp>
      <p:sp>
        <p:nvSpPr>
          <p:cNvPr id="7" name="Text 5"/>
          <p:cNvSpPr/>
          <p:nvPr/>
        </p:nvSpPr>
        <p:spPr>
          <a:xfrm>
            <a:off x="1005840" y="269748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End-to-end tests across cryptography, Soroban contracts, and payment oracles (0 failures).</a:t>
            </a:r>
            <a:endParaRPr lang="en-US" sz="1100" dirty="0"/>
          </a:p>
        </p:txBody>
      </p:sp>
      <p:sp>
        <p:nvSpPr>
          <p:cNvPr id="8" name="Shape 6"/>
          <p:cNvSpPr/>
          <p:nvPr/>
        </p:nvSpPr>
        <p:spPr>
          <a:xfrm>
            <a:off x="6126480" y="1645920"/>
            <a:ext cx="5120640" cy="2057400"/>
          </a:xfrm>
          <a:prstGeom prst="roundRect">
            <a:avLst/>
          </a:prstGeom>
          <a:solidFill>
            <a:srgbClr val="FFFFFF"/>
          </a:solidFill>
          <a:ln w="12700">
            <a:solidFill>
              <a:srgbClr val="E5E7EB"/>
            </a:solidFill>
            <a:prstDash val="solid"/>
          </a:ln>
        </p:spPr>
      </p:sp>
      <p:sp>
        <p:nvSpPr>
          <p:cNvPr id="9" name="Text 7"/>
          <p:cNvSpPr/>
          <p:nvPr/>
        </p:nvSpPr>
        <p:spPr>
          <a:xfrm>
            <a:off x="6400800" y="182880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Protocol 22</a:t>
            </a:r>
            <a:endParaRPr lang="en-US" sz="2600" dirty="0"/>
          </a:p>
        </p:txBody>
      </p:sp>
      <p:sp>
        <p:nvSpPr>
          <p:cNvPr id="10" name="Text 8"/>
          <p:cNvSpPr/>
          <p:nvPr/>
        </p:nvSpPr>
        <p:spPr>
          <a:xfrm>
            <a:off x="6400800" y="233172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Soroban SDK Compliance</a:t>
            </a:r>
            <a:endParaRPr lang="en-US" sz="1300" dirty="0"/>
          </a:p>
        </p:txBody>
      </p:sp>
      <p:sp>
        <p:nvSpPr>
          <p:cNvPr id="11" name="Text 9"/>
          <p:cNvSpPr/>
          <p:nvPr/>
        </p:nvSpPr>
        <p:spPr>
          <a:xfrm>
            <a:off x="6400800" y="269748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3 modular Rust contracts compiled for Stellar Protocol 22 with state rent TTL management.</a:t>
            </a:r>
            <a:endParaRPr lang="en-US" sz="1100" dirty="0"/>
          </a:p>
        </p:txBody>
      </p:sp>
      <p:sp>
        <p:nvSpPr>
          <p:cNvPr id="12" name="Shape 10"/>
          <p:cNvSpPr/>
          <p:nvPr/>
        </p:nvSpPr>
        <p:spPr>
          <a:xfrm>
            <a:off x="731520" y="3886200"/>
            <a:ext cx="5120640" cy="2057400"/>
          </a:xfrm>
          <a:prstGeom prst="roundRect">
            <a:avLst/>
          </a:prstGeom>
          <a:solidFill>
            <a:srgbClr val="FFFFFF"/>
          </a:solidFill>
          <a:ln w="12700">
            <a:solidFill>
              <a:srgbClr val="E5E7EB"/>
            </a:solidFill>
            <a:prstDash val="solid"/>
          </a:ln>
        </p:spPr>
      </p:sp>
      <p:sp>
        <p:nvSpPr>
          <p:cNvPr id="13" name="Text 11"/>
          <p:cNvSpPr/>
          <p:nvPr/>
        </p:nvSpPr>
        <p:spPr>
          <a:xfrm>
            <a:off x="1005840" y="406908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100% MIT</a:t>
            </a:r>
            <a:endParaRPr lang="en-US" sz="2600" dirty="0"/>
          </a:p>
        </p:txBody>
      </p:sp>
      <p:sp>
        <p:nvSpPr>
          <p:cNvPr id="14" name="Text 12"/>
          <p:cNvSpPr/>
          <p:nvPr/>
        </p:nvSpPr>
        <p:spPr>
          <a:xfrm>
            <a:off x="1005840" y="457200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Open-Source Public Good</a:t>
            </a:r>
            <a:endParaRPr lang="en-US" sz="1300" dirty="0"/>
          </a:p>
        </p:txBody>
      </p:sp>
      <p:sp>
        <p:nvSpPr>
          <p:cNvPr id="15" name="Text 13"/>
          <p:cNvSpPr/>
          <p:nvPr/>
        </p:nvSpPr>
        <p:spPr>
          <a:xfrm>
            <a:off x="1005840" y="493776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Active public repo at github.com/Open-Hub-Tec/yucu with daily commits from engineering residents.</a:t>
            </a:r>
            <a:endParaRPr lang="en-US" sz="1100" dirty="0"/>
          </a:p>
        </p:txBody>
      </p:sp>
      <p:sp>
        <p:nvSpPr>
          <p:cNvPr id="16" name="Shape 14"/>
          <p:cNvSpPr/>
          <p:nvPr/>
        </p:nvSpPr>
        <p:spPr>
          <a:xfrm>
            <a:off x="6126480" y="3886200"/>
            <a:ext cx="5120640" cy="2057400"/>
          </a:xfrm>
          <a:prstGeom prst="roundRect">
            <a:avLst/>
          </a:prstGeom>
          <a:solidFill>
            <a:srgbClr val="FFFFFF"/>
          </a:solidFill>
          <a:ln w="12700">
            <a:solidFill>
              <a:srgbClr val="E5E7EB"/>
            </a:solidFill>
            <a:prstDash val="solid"/>
          </a:ln>
        </p:spPr>
      </p:sp>
      <p:sp>
        <p:nvSpPr>
          <p:cNvPr id="17" name="Text 15"/>
          <p:cNvSpPr/>
          <p:nvPr/>
        </p:nvSpPr>
        <p:spPr>
          <a:xfrm>
            <a:off x="6400800" y="406908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600k+</a:t>
            </a:r>
            <a:endParaRPr lang="en-US" sz="2600" dirty="0"/>
          </a:p>
        </p:txBody>
      </p:sp>
      <p:sp>
        <p:nvSpPr>
          <p:cNvPr id="18" name="Text 16"/>
          <p:cNvSpPr/>
          <p:nvPr/>
        </p:nvSpPr>
        <p:spPr>
          <a:xfrm>
            <a:off x="6400800" y="457200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TecNM National Network</a:t>
            </a:r>
            <a:endParaRPr lang="en-US" sz="1300" dirty="0"/>
          </a:p>
        </p:txBody>
      </p:sp>
      <p:sp>
        <p:nvSpPr>
          <p:cNvPr id="19" name="Text 17"/>
          <p:cNvSpPr/>
          <p:nvPr/>
        </p:nvSpPr>
        <p:spPr>
          <a:xfrm>
            <a:off x="6400800" y="493776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Latin America’s largest public engineering system, training a permanent pipeline of Stellar builders.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HUMAN TEAM: INDIGENOUS TALENT &amp; TECNM ENGINEERING</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Undergraduate Student-Engineers at TecNM Campus Tlaxiaco Building Web3 Public Goods (Drips Wave &amp; SCF)</a:t>
            </a:r>
            <a:endParaRPr lang="en-US" sz="1400" dirty="0"/>
          </a:p>
        </p:txBody>
      </p:sp>
      <p:sp>
        <p:nvSpPr>
          <p:cNvPr id="4" name="Shape 2"/>
          <p:cNvSpPr/>
          <p:nvPr/>
        </p:nvSpPr>
        <p:spPr>
          <a:xfrm>
            <a:off x="731520" y="1554480"/>
            <a:ext cx="5120640" cy="2148840"/>
          </a:xfrm>
          <a:prstGeom prst="roundRect">
            <a:avLst/>
          </a:prstGeom>
          <a:solidFill>
            <a:srgbClr val="FFFFFF"/>
          </a:solidFill>
          <a:ln w="12700">
            <a:solidFill>
              <a:srgbClr val="E5E7EB"/>
            </a:solidFill>
            <a:prstDash val="solid"/>
          </a:ln>
        </p:spPr>
      </p:sp>
      <p:sp>
        <p:nvSpPr>
          <p:cNvPr id="5" name="Shape 3"/>
          <p:cNvSpPr/>
          <p:nvPr/>
        </p:nvSpPr>
        <p:spPr>
          <a:xfrm>
            <a:off x="868680" y="1691640"/>
            <a:ext cx="4846320" cy="292608"/>
          </a:xfrm>
          <a:prstGeom prst="roundRect">
            <a:avLst/>
          </a:prstGeom>
          <a:solidFill>
            <a:srgbClr val="DCFCE7"/>
          </a:solidFill>
          <a:ln w="12700">
            <a:solidFill>
              <a:srgbClr val="DCFCE7"/>
            </a:solidFill>
            <a:prstDash val="solid"/>
          </a:ln>
        </p:spPr>
      </p:sp>
      <p:sp>
        <p:nvSpPr>
          <p:cNvPr id="6" name="Text 4"/>
          <p:cNvSpPr/>
          <p:nvPr/>
        </p:nvSpPr>
        <p:spPr>
          <a:xfrm>
            <a:off x="914400" y="1709928"/>
            <a:ext cx="4754880" cy="256032"/>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Academic Leadership &amp; Faculty Advisors</a:t>
            </a:r>
            <a:endParaRPr lang="en-US" sz="1100" dirty="0"/>
          </a:p>
        </p:txBody>
      </p:sp>
      <p:sp>
        <p:nvSpPr>
          <p:cNvPr id="7" name="Text 5"/>
          <p:cNvSpPr/>
          <p:nvPr/>
        </p:nvSpPr>
        <p:spPr>
          <a:xfrm>
            <a:off x="914400" y="210312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Faculty Advisor &amp; Tech Lead:</a:t>
            </a:r>
            <a:endParaRPr lang="en-US" sz="900" dirty="0"/>
          </a:p>
        </p:txBody>
      </p:sp>
      <p:sp>
        <p:nvSpPr>
          <p:cNvPr id="8" name="Text 6"/>
          <p:cNvSpPr/>
          <p:nvPr/>
        </p:nvSpPr>
        <p:spPr>
          <a:xfrm>
            <a:off x="3017520" y="210312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Prof. José Alfredo Román Cruz (TecNM)</a:t>
            </a:r>
            <a:endParaRPr lang="en-US" sz="900" dirty="0"/>
          </a:p>
        </p:txBody>
      </p:sp>
      <p:sp>
        <p:nvSpPr>
          <p:cNvPr id="9" name="Text 7"/>
          <p:cNvSpPr/>
          <p:nvPr/>
        </p:nvSpPr>
        <p:spPr>
          <a:xfrm>
            <a:off x="914400" y="248716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Student Project Lead:</a:t>
            </a:r>
            <a:endParaRPr lang="en-US" sz="900" dirty="0"/>
          </a:p>
        </p:txBody>
      </p:sp>
      <p:sp>
        <p:nvSpPr>
          <p:cNvPr id="10" name="Text 8"/>
          <p:cNvSpPr/>
          <p:nvPr/>
        </p:nvSpPr>
        <p:spPr>
          <a:xfrm>
            <a:off x="3017520" y="248716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Nallely López García (Professional Residency)</a:t>
            </a:r>
            <a:endParaRPr lang="en-US" sz="900" dirty="0"/>
          </a:p>
        </p:txBody>
      </p:sp>
      <p:sp>
        <p:nvSpPr>
          <p:cNvPr id="11" name="Text 9"/>
          <p:cNvSpPr/>
          <p:nvPr/>
        </p:nvSpPr>
        <p:spPr>
          <a:xfrm>
            <a:off x="914400" y="287121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Host Academic Institution:</a:t>
            </a:r>
            <a:endParaRPr lang="en-US" sz="900" dirty="0"/>
          </a:p>
        </p:txBody>
      </p:sp>
      <p:sp>
        <p:nvSpPr>
          <p:cNvPr id="12" name="Text 10"/>
          <p:cNvSpPr/>
          <p:nvPr/>
        </p:nvSpPr>
        <p:spPr>
          <a:xfrm>
            <a:off x="3017520" y="287121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Instituto Tecnológico de Tlaxiaco (Oaxaca, Mex.)</a:t>
            </a:r>
            <a:endParaRPr lang="en-US" sz="900" dirty="0"/>
          </a:p>
        </p:txBody>
      </p:sp>
      <p:sp>
        <p:nvSpPr>
          <p:cNvPr id="13" name="Text 11"/>
          <p:cNvSpPr/>
          <p:nvPr/>
        </p:nvSpPr>
        <p:spPr>
          <a:xfrm>
            <a:off x="914400" y="325526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Curriculum Program:</a:t>
            </a:r>
            <a:endParaRPr lang="en-US" sz="900" dirty="0"/>
          </a:p>
        </p:txBody>
      </p:sp>
      <p:sp>
        <p:nvSpPr>
          <p:cNvPr id="14" name="Text 12"/>
          <p:cNvSpPr/>
          <p:nvPr/>
        </p:nvSpPr>
        <p:spPr>
          <a:xfrm>
            <a:off x="3017520" y="325526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Software Project Management &amp; Software Eng. Fundamentals</a:t>
            </a:r>
            <a:endParaRPr lang="en-US" sz="900" dirty="0"/>
          </a:p>
        </p:txBody>
      </p:sp>
      <p:sp>
        <p:nvSpPr>
          <p:cNvPr id="15" name="Shape 13"/>
          <p:cNvSpPr/>
          <p:nvPr/>
        </p:nvSpPr>
        <p:spPr>
          <a:xfrm>
            <a:off x="6126480" y="1554480"/>
            <a:ext cx="5120640" cy="2148840"/>
          </a:xfrm>
          <a:prstGeom prst="roundRect">
            <a:avLst/>
          </a:prstGeom>
          <a:solidFill>
            <a:srgbClr val="FFFFFF"/>
          </a:solidFill>
          <a:ln w="12700">
            <a:solidFill>
              <a:srgbClr val="E5E7EB"/>
            </a:solidFill>
            <a:prstDash val="solid"/>
          </a:ln>
        </p:spPr>
      </p:sp>
      <p:sp>
        <p:nvSpPr>
          <p:cNvPr id="16" name="Shape 14"/>
          <p:cNvSpPr/>
          <p:nvPr/>
        </p:nvSpPr>
        <p:spPr>
          <a:xfrm>
            <a:off x="6263640" y="1691640"/>
            <a:ext cx="4846320" cy="292608"/>
          </a:xfrm>
          <a:prstGeom prst="roundRect">
            <a:avLst/>
          </a:prstGeom>
          <a:solidFill>
            <a:srgbClr val="FEE2E2"/>
          </a:solidFill>
          <a:ln w="12700">
            <a:solidFill>
              <a:srgbClr val="FEE2E2"/>
            </a:solidFill>
            <a:prstDash val="solid"/>
          </a:ln>
        </p:spPr>
      </p:sp>
      <p:sp>
        <p:nvSpPr>
          <p:cNvPr id="17" name="Text 15"/>
          <p:cNvSpPr/>
          <p:nvPr/>
        </p:nvSpPr>
        <p:spPr>
          <a:xfrm>
            <a:off x="6309360" y="1709928"/>
            <a:ext cx="4754880" cy="256032"/>
          </a:xfrm>
          <a:prstGeom prst="rect">
            <a:avLst/>
          </a:prstGeom>
          <a:noFill/>
          <a:ln/>
        </p:spPr>
        <p:txBody>
          <a:bodyPr wrap="square" rtlCol="0" anchor="ctr"/>
          <a:lstStyle/>
          <a:p>
            <a:pPr indent="0" marL="0">
              <a:buNone/>
            </a:pPr>
            <a:r>
              <a:rPr lang="en-US" sz="1100" b="1" dirty="0">
                <a:solidFill>
                  <a:srgbClr val="991B1B"/>
                </a:solidFill>
                <a:latin typeface="Arial" pitchFamily="34" charset="0"/>
                <a:ea typeface="Arial" pitchFamily="34" charset="-122"/>
                <a:cs typeface="Arial" pitchFamily="34" charset="-120"/>
              </a:rPr>
              <a:t>Field Research: Palm Weavers &amp; Honey</a:t>
            </a:r>
            <a:endParaRPr lang="en-US" sz="1100" dirty="0"/>
          </a:p>
        </p:txBody>
      </p:sp>
      <p:sp>
        <p:nvSpPr>
          <p:cNvPr id="18" name="Text 16"/>
          <p:cNvSpPr/>
          <p:nvPr/>
        </p:nvSpPr>
        <p:spPr>
          <a:xfrm>
            <a:off x="6309360" y="210312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Palm Brigade (San Juan Mixtepec):</a:t>
            </a:r>
            <a:endParaRPr lang="en-US" sz="900" dirty="0"/>
          </a:p>
        </p:txBody>
      </p:sp>
      <p:sp>
        <p:nvSpPr>
          <p:cNvPr id="19" name="Text 17"/>
          <p:cNvSpPr/>
          <p:nvPr/>
        </p:nvSpPr>
        <p:spPr>
          <a:xfrm>
            <a:off x="8412480" y="210312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Jazlynn Barrios Velasco</a:t>
            </a:r>
            <a:endParaRPr lang="en-US" sz="900" dirty="0"/>
          </a:p>
        </p:txBody>
      </p:sp>
      <p:sp>
        <p:nvSpPr>
          <p:cNvPr id="20" name="Text 18"/>
          <p:cNvSpPr/>
          <p:nvPr/>
        </p:nvSpPr>
        <p:spPr>
          <a:xfrm>
            <a:off x="6309360" y="248716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Field Researcher:</a:t>
            </a:r>
            <a:endParaRPr lang="en-US" sz="900" dirty="0"/>
          </a:p>
        </p:txBody>
      </p:sp>
      <p:sp>
        <p:nvSpPr>
          <p:cNvPr id="21" name="Text 19"/>
          <p:cNvSpPr/>
          <p:nvPr/>
        </p:nvSpPr>
        <p:spPr>
          <a:xfrm>
            <a:off x="8412480" y="248716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Isaías Brayan López Domínguez</a:t>
            </a:r>
            <a:endParaRPr lang="en-US" sz="900" dirty="0"/>
          </a:p>
        </p:txBody>
      </p:sp>
      <p:sp>
        <p:nvSpPr>
          <p:cNvPr id="22" name="Text 20"/>
          <p:cNvSpPr/>
          <p:nvPr/>
        </p:nvSpPr>
        <p:spPr>
          <a:xfrm>
            <a:off x="6309360" y="287121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Co-Researchers:</a:t>
            </a:r>
            <a:endParaRPr lang="en-US" sz="900" dirty="0"/>
          </a:p>
        </p:txBody>
      </p:sp>
      <p:sp>
        <p:nvSpPr>
          <p:cNvPr id="23" name="Text 21"/>
          <p:cNvSpPr/>
          <p:nvPr/>
        </p:nvSpPr>
        <p:spPr>
          <a:xfrm>
            <a:off x="8412480" y="287121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Rafael Ayala Coronel, Alex Victoria</a:t>
            </a:r>
            <a:endParaRPr lang="en-US" sz="900" dirty="0"/>
          </a:p>
        </p:txBody>
      </p:sp>
      <p:sp>
        <p:nvSpPr>
          <p:cNvPr id="24" name="Text 22"/>
          <p:cNvSpPr/>
          <p:nvPr/>
        </p:nvSpPr>
        <p:spPr>
          <a:xfrm>
            <a:off x="6309360" y="325526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Honey Brigade (San Juan Ñumí):</a:t>
            </a:r>
            <a:endParaRPr lang="en-US" sz="900" dirty="0"/>
          </a:p>
        </p:txBody>
      </p:sp>
      <p:sp>
        <p:nvSpPr>
          <p:cNvPr id="25" name="Text 23"/>
          <p:cNvSpPr/>
          <p:nvPr/>
        </p:nvSpPr>
        <p:spPr>
          <a:xfrm>
            <a:off x="8412480" y="325526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Luis Alexis Morales &amp; eduScrum / UMIZOOMI Team</a:t>
            </a:r>
            <a:endParaRPr lang="en-US" sz="900" dirty="0"/>
          </a:p>
        </p:txBody>
      </p:sp>
      <p:sp>
        <p:nvSpPr>
          <p:cNvPr id="26" name="Shape 24"/>
          <p:cNvSpPr/>
          <p:nvPr/>
        </p:nvSpPr>
        <p:spPr>
          <a:xfrm>
            <a:off x="731520" y="3886200"/>
            <a:ext cx="5120640" cy="2148840"/>
          </a:xfrm>
          <a:prstGeom prst="roundRect">
            <a:avLst/>
          </a:prstGeom>
          <a:solidFill>
            <a:srgbClr val="FFFFFF"/>
          </a:solidFill>
          <a:ln w="12700">
            <a:solidFill>
              <a:srgbClr val="E5E7EB"/>
            </a:solidFill>
            <a:prstDash val="solid"/>
          </a:ln>
        </p:spPr>
      </p:sp>
      <p:sp>
        <p:nvSpPr>
          <p:cNvPr id="27" name="Shape 25"/>
          <p:cNvSpPr/>
          <p:nvPr/>
        </p:nvSpPr>
        <p:spPr>
          <a:xfrm>
            <a:off x="868680" y="4023360"/>
            <a:ext cx="4846320" cy="292608"/>
          </a:xfrm>
          <a:prstGeom prst="roundRect">
            <a:avLst/>
          </a:prstGeom>
          <a:solidFill>
            <a:srgbClr val="FEF3C7"/>
          </a:solidFill>
          <a:ln w="12700">
            <a:solidFill>
              <a:srgbClr val="FEF3C7"/>
            </a:solidFill>
            <a:prstDash val="solid"/>
          </a:ln>
        </p:spPr>
      </p:sp>
      <p:sp>
        <p:nvSpPr>
          <p:cNvPr id="28" name="Text 26"/>
          <p:cNvSpPr/>
          <p:nvPr/>
        </p:nvSpPr>
        <p:spPr>
          <a:xfrm>
            <a:off x="914400" y="4041648"/>
            <a:ext cx="4754880" cy="256032"/>
          </a:xfrm>
          <a:prstGeom prst="rect">
            <a:avLst/>
          </a:prstGeom>
          <a:noFill/>
          <a:ln/>
        </p:spPr>
        <p:txBody>
          <a:bodyPr wrap="square" rtlCol="0" anchor="ctr"/>
          <a:lstStyle/>
          <a:p>
            <a:pPr indent="0" marL="0">
              <a:buNone/>
            </a:pPr>
            <a:r>
              <a:rPr lang="en-US" sz="1100" b="1" dirty="0">
                <a:solidFill>
                  <a:srgbClr val="92400E"/>
                </a:solidFill>
                <a:latin typeface="Arial" pitchFamily="34" charset="0"/>
                <a:ea typeface="Arial" pitchFamily="34" charset="-122"/>
                <a:cs typeface="Arial" pitchFamily="34" charset="-120"/>
              </a:rPr>
              <a:t>Field Research: Master Textiles &amp; Mezcal</a:t>
            </a:r>
            <a:endParaRPr lang="en-US" sz="1100" dirty="0"/>
          </a:p>
        </p:txBody>
      </p:sp>
      <p:sp>
        <p:nvSpPr>
          <p:cNvPr id="29" name="Text 27"/>
          <p:cNvSpPr/>
          <p:nvPr/>
        </p:nvSpPr>
        <p:spPr>
          <a:xfrm>
            <a:off x="914400" y="443484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Textile Brigade (San José Xochixtlán):</a:t>
            </a:r>
            <a:endParaRPr lang="en-US" sz="900" dirty="0"/>
          </a:p>
        </p:txBody>
      </p:sp>
      <p:sp>
        <p:nvSpPr>
          <p:cNvPr id="30" name="Text 28"/>
          <p:cNvSpPr/>
          <p:nvPr/>
        </p:nvSpPr>
        <p:spPr>
          <a:xfrm>
            <a:off x="3017520" y="443484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Charlie Jared Castro Rodríguez (5th Sem.)</a:t>
            </a:r>
            <a:endParaRPr lang="en-US" sz="900" dirty="0"/>
          </a:p>
        </p:txBody>
      </p:sp>
      <p:sp>
        <p:nvSpPr>
          <p:cNvPr id="31" name="Text 29"/>
          <p:cNvSpPr/>
          <p:nvPr/>
        </p:nvSpPr>
        <p:spPr>
          <a:xfrm>
            <a:off x="914400" y="481888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Elder UX Usability Team:</a:t>
            </a:r>
            <a:endParaRPr lang="en-US" sz="900" dirty="0"/>
          </a:p>
        </p:txBody>
      </p:sp>
      <p:sp>
        <p:nvSpPr>
          <p:cNvPr id="32" name="Text 30"/>
          <p:cNvSpPr/>
          <p:nvPr/>
        </p:nvSpPr>
        <p:spPr>
          <a:xfrm>
            <a:off x="3017520" y="481888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Dulce Maetzy Reyes Hernández, Brayan Pérez González</a:t>
            </a:r>
            <a:endParaRPr lang="en-US" sz="900" dirty="0"/>
          </a:p>
        </p:txBody>
      </p:sp>
      <p:sp>
        <p:nvSpPr>
          <p:cNvPr id="33" name="Text 31"/>
          <p:cNvSpPr/>
          <p:nvPr/>
        </p:nvSpPr>
        <p:spPr>
          <a:xfrm>
            <a:off x="914400" y="520293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Cognitive Friction Researcher:</a:t>
            </a:r>
            <a:endParaRPr lang="en-US" sz="900" dirty="0"/>
          </a:p>
        </p:txBody>
      </p:sp>
      <p:sp>
        <p:nvSpPr>
          <p:cNvPr id="34" name="Text 32"/>
          <p:cNvSpPr/>
          <p:nvPr/>
        </p:nvSpPr>
        <p:spPr>
          <a:xfrm>
            <a:off x="3017520" y="520293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José Manuel Hernández Paz (5th Sem.)</a:t>
            </a:r>
            <a:endParaRPr lang="en-US" sz="900" dirty="0"/>
          </a:p>
        </p:txBody>
      </p:sp>
      <p:sp>
        <p:nvSpPr>
          <p:cNvPr id="35" name="Text 33"/>
          <p:cNvSpPr/>
          <p:nvPr/>
        </p:nvSpPr>
        <p:spPr>
          <a:xfrm>
            <a:off x="914400" y="558698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Mezcal Team (Yavi Tech):</a:t>
            </a:r>
            <a:endParaRPr lang="en-US" sz="900" dirty="0"/>
          </a:p>
        </p:txBody>
      </p:sp>
      <p:sp>
        <p:nvSpPr>
          <p:cNvPr id="36" name="Text 34"/>
          <p:cNvSpPr/>
          <p:nvPr/>
        </p:nvSpPr>
        <p:spPr>
          <a:xfrm>
            <a:off x="3017520" y="558698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Lewis Noé Hernández, Nelson Macario Martínez, Luis García</a:t>
            </a:r>
            <a:endParaRPr lang="en-US" sz="900" dirty="0"/>
          </a:p>
        </p:txBody>
      </p:sp>
      <p:sp>
        <p:nvSpPr>
          <p:cNvPr id="37" name="Shape 35"/>
          <p:cNvSpPr/>
          <p:nvPr/>
        </p:nvSpPr>
        <p:spPr>
          <a:xfrm>
            <a:off x="6126480" y="3886200"/>
            <a:ext cx="5120640" cy="2148840"/>
          </a:xfrm>
          <a:prstGeom prst="roundRect">
            <a:avLst/>
          </a:prstGeom>
          <a:solidFill>
            <a:srgbClr val="FFFFFF"/>
          </a:solidFill>
          <a:ln w="12700">
            <a:solidFill>
              <a:srgbClr val="E5E7EB"/>
            </a:solidFill>
            <a:prstDash val="solid"/>
          </a:ln>
        </p:spPr>
      </p:sp>
      <p:sp>
        <p:nvSpPr>
          <p:cNvPr id="38" name="Shape 36"/>
          <p:cNvSpPr/>
          <p:nvPr/>
        </p:nvSpPr>
        <p:spPr>
          <a:xfrm>
            <a:off x="6263640" y="4023360"/>
            <a:ext cx="4846320" cy="292608"/>
          </a:xfrm>
          <a:prstGeom prst="roundRect">
            <a:avLst/>
          </a:prstGeom>
          <a:solidFill>
            <a:srgbClr val="E0E7FF"/>
          </a:solidFill>
          <a:ln w="12700">
            <a:solidFill>
              <a:srgbClr val="E0E7FF"/>
            </a:solidFill>
            <a:prstDash val="solid"/>
          </a:ln>
        </p:spPr>
      </p:sp>
      <p:sp>
        <p:nvSpPr>
          <p:cNvPr id="39" name="Text 37"/>
          <p:cNvSpPr/>
          <p:nvPr/>
        </p:nvSpPr>
        <p:spPr>
          <a:xfrm>
            <a:off x="6309360" y="4041648"/>
            <a:ext cx="4754880" cy="256032"/>
          </a:xfrm>
          <a:prstGeom prst="rect">
            <a:avLst/>
          </a:prstGeom>
          <a:noFill/>
          <a:ln/>
        </p:spPr>
        <p:txBody>
          <a:bodyPr wrap="square" rtlCol="0" anchor="ctr"/>
          <a:lstStyle/>
          <a:p>
            <a:pPr indent="0" marL="0">
              <a:buNone/>
            </a:pPr>
            <a:r>
              <a:rPr lang="en-US" sz="1100" b="1" dirty="0">
                <a:solidFill>
                  <a:srgbClr val="3730A3"/>
                </a:solidFill>
                <a:latin typeface="Arial" pitchFamily="34" charset="0"/>
                <a:ea typeface="Arial" pitchFamily="34" charset="-122"/>
                <a:cs typeface="Arial" pitchFamily="34" charset="-120"/>
              </a:rPr>
              <a:t>Core Protocol &amp; Smart Contract Engineering</a:t>
            </a:r>
            <a:endParaRPr lang="en-US" sz="1100" dirty="0"/>
          </a:p>
        </p:txBody>
      </p:sp>
      <p:sp>
        <p:nvSpPr>
          <p:cNvPr id="40" name="Text 38"/>
          <p:cNvSpPr/>
          <p:nvPr/>
        </p:nvSpPr>
        <p:spPr>
          <a:xfrm>
            <a:off x="6309360" y="443484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Rust / Soroban &amp; Escrow:</a:t>
            </a:r>
            <a:endParaRPr lang="en-US" sz="900" dirty="0"/>
          </a:p>
        </p:txBody>
      </p:sp>
      <p:sp>
        <p:nvSpPr>
          <p:cNvPr id="41" name="Text 39"/>
          <p:cNvSpPr/>
          <p:nvPr/>
        </p:nvSpPr>
        <p:spPr>
          <a:xfrm>
            <a:off x="8412480" y="443484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Trustless Work Escrow Adapter &amp; LotPassport</a:t>
            </a:r>
            <a:endParaRPr lang="en-US" sz="900" dirty="0"/>
          </a:p>
        </p:txBody>
      </p:sp>
      <p:sp>
        <p:nvSpPr>
          <p:cNvPr id="42" name="Text 40"/>
          <p:cNvSpPr/>
          <p:nvPr/>
        </p:nvSpPr>
        <p:spPr>
          <a:xfrm>
            <a:off x="6309360" y="481888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Frontend &amp; Offline PWA:</a:t>
            </a:r>
            <a:endParaRPr lang="en-US" sz="900" dirty="0"/>
          </a:p>
        </p:txBody>
      </p:sp>
      <p:sp>
        <p:nvSpPr>
          <p:cNvPr id="43" name="Text 41"/>
          <p:cNvSpPr/>
          <p:nvPr/>
        </p:nvSpPr>
        <p:spPr>
          <a:xfrm>
            <a:off x="8412480" y="481888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React 19, IndexedDB Outbox &amp; 112px Elder Mode</a:t>
            </a:r>
            <a:endParaRPr lang="en-US" sz="900" dirty="0"/>
          </a:p>
        </p:txBody>
      </p:sp>
      <p:sp>
        <p:nvSpPr>
          <p:cNvPr id="44" name="Text 42"/>
          <p:cNvSpPr/>
          <p:nvPr/>
        </p:nvSpPr>
        <p:spPr>
          <a:xfrm>
            <a:off x="6309360" y="520293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Autonomous AI Oracles:</a:t>
            </a:r>
            <a:endParaRPr lang="en-US" sz="900" dirty="0"/>
          </a:p>
        </p:txBody>
      </p:sp>
      <p:sp>
        <p:nvSpPr>
          <p:cNvPr id="45" name="Text 43"/>
          <p:cNvSpPr/>
          <p:nvPr/>
        </p:nvSpPr>
        <p:spPr>
          <a:xfrm>
            <a:off x="8412480" y="520293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Tu’un Savi Voice STT, SCAA Quality &amp; EUDR Geofence</a:t>
            </a:r>
            <a:endParaRPr lang="en-US" sz="900" dirty="0"/>
          </a:p>
        </p:txBody>
      </p:sp>
      <p:sp>
        <p:nvSpPr>
          <p:cNvPr id="46" name="Text 44"/>
          <p:cNvSpPr/>
          <p:nvPr/>
        </p:nvSpPr>
        <p:spPr>
          <a:xfrm>
            <a:off x="6309360" y="558698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Governance &amp; Drips Splits:</a:t>
            </a:r>
            <a:endParaRPr lang="en-US" sz="900" dirty="0"/>
          </a:p>
        </p:txBody>
      </p:sp>
      <p:sp>
        <p:nvSpPr>
          <p:cNvPr id="47" name="Text 45"/>
          <p:cNvSpPr/>
          <p:nvPr/>
        </p:nvSpPr>
        <p:spPr>
          <a:xfrm>
            <a:off x="8412480" y="558698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Open Hub TecNM – 100% MIT Open Source Public Good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STRATEGIC PROPOSAL TO THE STELLAR DEVELOPMENT FOUNDATION</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Co-Creating the Global RWA Standard on Soroban Ahead of HackMeridian Lisbon</a:t>
            </a:r>
            <a:endParaRPr lang="en-US" sz="1400" dirty="0"/>
          </a:p>
        </p:txBody>
      </p:sp>
      <p:sp>
        <p:nvSpPr>
          <p:cNvPr id="4" name="Shape 2"/>
          <p:cNvSpPr/>
          <p:nvPr/>
        </p:nvSpPr>
        <p:spPr>
          <a:xfrm>
            <a:off x="731520" y="1645920"/>
            <a:ext cx="10515600" cy="1280160"/>
          </a:xfrm>
          <a:prstGeom prst="roundRect">
            <a:avLst/>
          </a:prstGeom>
          <a:solidFill>
            <a:srgbClr val="FFFFFF"/>
          </a:solidFill>
          <a:ln w="12700">
            <a:solidFill>
              <a:srgbClr val="E5E7EB"/>
            </a:solidFill>
            <a:prstDash val="solid"/>
          </a:ln>
        </p:spPr>
      </p:sp>
      <p:sp>
        <p:nvSpPr>
          <p:cNvPr id="5" name="Text 3"/>
          <p:cNvSpPr/>
          <p:nvPr/>
        </p:nvSpPr>
        <p:spPr>
          <a:xfrm>
            <a:off x="1005840" y="182880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01</a:t>
            </a:r>
            <a:endParaRPr lang="en-US" sz="2400" dirty="0"/>
          </a:p>
        </p:txBody>
      </p:sp>
      <p:sp>
        <p:nvSpPr>
          <p:cNvPr id="6" name="Text 4"/>
          <p:cNvSpPr/>
          <p:nvPr/>
        </p:nvSpPr>
        <p:spPr>
          <a:xfrm>
            <a:off x="1828800" y="182880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Formal Ratification of SEP-RWA Standard</a:t>
            </a:r>
            <a:endParaRPr lang="en-US" sz="1400" dirty="0"/>
          </a:p>
        </p:txBody>
      </p:sp>
      <p:sp>
        <p:nvSpPr>
          <p:cNvPr id="7" name="Text 5"/>
          <p:cNvSpPr/>
          <p:nvPr/>
        </p:nvSpPr>
        <p:spPr>
          <a:xfrm>
            <a:off x="1828800" y="214884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Collaborate with the SDF Standards Committee to refine and adopt our draft specification (docs/SEP_RWA_ATTESTATION_DRAFT.md) as the canonical RWA attestation standard for Soroban.</a:t>
            </a:r>
            <a:endParaRPr lang="en-US" sz="1100" dirty="0"/>
          </a:p>
        </p:txBody>
      </p:sp>
      <p:sp>
        <p:nvSpPr>
          <p:cNvPr id="8" name="Shape 6"/>
          <p:cNvSpPr/>
          <p:nvPr/>
        </p:nvSpPr>
        <p:spPr>
          <a:xfrm>
            <a:off x="731520" y="3108960"/>
            <a:ext cx="10515600" cy="1280160"/>
          </a:xfrm>
          <a:prstGeom prst="roundRect">
            <a:avLst/>
          </a:prstGeom>
          <a:solidFill>
            <a:srgbClr val="FFFFFF"/>
          </a:solidFill>
          <a:ln w="12700">
            <a:solidFill>
              <a:srgbClr val="E5E7EB"/>
            </a:solidFill>
            <a:prstDash val="solid"/>
          </a:ln>
        </p:spPr>
      </p:sp>
      <p:sp>
        <p:nvSpPr>
          <p:cNvPr id="9" name="Text 7"/>
          <p:cNvSpPr/>
          <p:nvPr/>
        </p:nvSpPr>
        <p:spPr>
          <a:xfrm>
            <a:off x="1005840" y="329184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02</a:t>
            </a:r>
            <a:endParaRPr lang="en-US" sz="2400" dirty="0"/>
          </a:p>
        </p:txBody>
      </p:sp>
      <p:sp>
        <p:nvSpPr>
          <p:cNvPr id="10" name="Text 8"/>
          <p:cNvSpPr/>
          <p:nvPr/>
        </p:nvSpPr>
        <p:spPr>
          <a:xfrm>
            <a:off x="1828800" y="329184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HackMeridian &amp; Meridian Lisbon Anchor Showcase</a:t>
            </a:r>
            <a:endParaRPr lang="en-US" sz="1400" dirty="0"/>
          </a:p>
        </p:txBody>
      </p:sp>
      <p:sp>
        <p:nvSpPr>
          <p:cNvPr id="11" name="Text 9"/>
          <p:cNvSpPr/>
          <p:nvPr/>
        </p:nvSpPr>
        <p:spPr>
          <a:xfrm>
            <a:off x="1828800" y="361188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Feature Yucu at Meridian Lisbon as an exemplar of Protocol 22 utility, showcasing live cross-border purchases between European buyers and Oaxacan indigenous producers.</a:t>
            </a:r>
            <a:endParaRPr lang="en-US" sz="1100" dirty="0"/>
          </a:p>
        </p:txBody>
      </p:sp>
      <p:sp>
        <p:nvSpPr>
          <p:cNvPr id="12" name="Shape 10"/>
          <p:cNvSpPr/>
          <p:nvPr/>
        </p:nvSpPr>
        <p:spPr>
          <a:xfrm>
            <a:off x="731520" y="4572000"/>
            <a:ext cx="10515600" cy="1280160"/>
          </a:xfrm>
          <a:prstGeom prst="roundRect">
            <a:avLst/>
          </a:prstGeom>
          <a:solidFill>
            <a:srgbClr val="FFFFFF"/>
          </a:solidFill>
          <a:ln w="12700">
            <a:solidFill>
              <a:srgbClr val="E5E7EB"/>
            </a:solidFill>
            <a:prstDash val="solid"/>
          </a:ln>
        </p:spPr>
      </p:sp>
      <p:sp>
        <p:nvSpPr>
          <p:cNvPr id="13" name="Text 11"/>
          <p:cNvSpPr/>
          <p:nvPr/>
        </p:nvSpPr>
        <p:spPr>
          <a:xfrm>
            <a:off x="1005840" y="475488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03</a:t>
            </a:r>
            <a:endParaRPr lang="en-US" sz="2400" dirty="0"/>
          </a:p>
        </p:txBody>
      </p:sp>
      <p:sp>
        <p:nvSpPr>
          <p:cNvPr id="14" name="Text 12"/>
          <p:cNvSpPr/>
          <p:nvPr/>
        </p:nvSpPr>
        <p:spPr>
          <a:xfrm>
            <a:off x="1828800" y="475488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University Hub Developer Grant Support</a:t>
            </a:r>
            <a:endParaRPr lang="en-US" sz="1400" dirty="0"/>
          </a:p>
        </p:txBody>
      </p:sp>
      <p:sp>
        <p:nvSpPr>
          <p:cNvPr id="15" name="Text 13"/>
          <p:cNvSpPr/>
          <p:nvPr/>
        </p:nvSpPr>
        <p:spPr>
          <a:xfrm>
            <a:off x="1828800" y="507492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Capitalize the Open Hub TecNM residency program to fund ongoing student developer bounties and scale our on-chain pilot from 50 to 500 indigenous cooperatives across southern Mexico.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32517"/>
        </a:solidFill>
      </p:bgPr>
    </p:bg>
    <p:spTree>
      <p:nvGrpSpPr>
        <p:cNvPr id="1" name=""/>
        <p:cNvGrpSpPr/>
        <p:nvPr/>
      </p:nvGrpSpPr>
      <p:grpSpPr>
        <a:xfrm>
          <a:off x="0" y="0"/>
          <a:ext cx="0" cy="0"/>
          <a:chOff x="0" y="0"/>
          <a:chExt cx="0" cy="0"/>
        </a:xfrm>
      </p:grpSpPr>
      <p:sp>
        <p:nvSpPr>
          <p:cNvPr id="2" name="Text 0"/>
          <p:cNvSpPr/>
          <p:nvPr/>
        </p:nvSpPr>
        <p:spPr>
          <a:xfrm>
            <a:off x="731520" y="914400"/>
            <a:ext cx="10515600" cy="457200"/>
          </a:xfrm>
          <a:prstGeom prst="rect">
            <a:avLst/>
          </a:prstGeom>
          <a:noFill/>
          <a:ln/>
        </p:spPr>
        <p:txBody>
          <a:bodyPr wrap="square" rtlCol="0" anchor="ctr"/>
          <a:lstStyle/>
          <a:p>
            <a:pPr indent="0" marL="0">
              <a:buNone/>
            </a:pPr>
            <a:r>
              <a:rPr lang="en-US" sz="1600" b="1" spc="200" kern="0" dirty="0">
                <a:solidFill>
                  <a:srgbClr val="D97706"/>
                </a:solidFill>
                <a:latin typeface="Arial" pitchFamily="34" charset="0"/>
                <a:ea typeface="Arial" pitchFamily="34" charset="-122"/>
                <a:cs typeface="Arial" pitchFamily="34" charset="-120"/>
              </a:rPr>
              <a:t>THE TRUE PROMISE OF STELLAR</a:t>
            </a:r>
            <a:endParaRPr lang="en-US" sz="1600" dirty="0"/>
          </a:p>
        </p:txBody>
      </p:sp>
      <p:sp>
        <p:nvSpPr>
          <p:cNvPr id="3" name="Text 1"/>
          <p:cNvSpPr/>
          <p:nvPr/>
        </p:nvSpPr>
        <p:spPr>
          <a:xfrm>
            <a:off x="731520" y="1645920"/>
            <a:ext cx="10515600" cy="1645920"/>
          </a:xfrm>
          <a:prstGeom prst="rect">
            <a:avLst/>
          </a:prstGeom>
          <a:noFill/>
          <a:ln/>
        </p:spPr>
        <p:txBody>
          <a:bodyPr wrap="square" rtlCol="0" anchor="ctr"/>
          <a:lstStyle/>
          <a:p>
            <a:pPr indent="0" marL="0">
              <a:lnSpc>
                <a:spcPts val="3400"/>
              </a:lnSpc>
              <a:buNone/>
            </a:pPr>
            <a:r>
              <a:rPr lang="en-US" sz="2400" i="1" dirty="0">
                <a:solidFill>
                  <a:srgbClr val="FFFFFF"/>
                </a:solidFill>
                <a:latin typeface="Georgia" pitchFamily="34" charset="0"/>
                <a:ea typeface="Georgia" pitchFamily="34" charset="-122"/>
                <a:cs typeface="Georgia" pitchFamily="34" charset="-120"/>
              </a:rPr>
              <a:t>“Real-world assets are not just treasury bills in institutional vaults; they are the heritage, harvests, and hands of the communities that sustain our world.”</a:t>
            </a:r>
            <a:endParaRPr lang="en-US" sz="2400" dirty="0"/>
          </a:p>
        </p:txBody>
      </p:sp>
      <p:sp>
        <p:nvSpPr>
          <p:cNvPr id="4" name="Shape 2"/>
          <p:cNvSpPr/>
          <p:nvPr/>
        </p:nvSpPr>
        <p:spPr>
          <a:xfrm>
            <a:off x="731520" y="3566160"/>
            <a:ext cx="10515600" cy="36576"/>
          </a:xfrm>
          <a:prstGeom prst="rect">
            <a:avLst/>
          </a:prstGeom>
          <a:solidFill>
            <a:srgbClr val="D97706"/>
          </a:solidFill>
          <a:ln w="12700">
            <a:solidFill>
              <a:srgbClr val="D97706"/>
            </a:solidFill>
            <a:prstDash val="solid"/>
          </a:ln>
        </p:spPr>
      </p:sp>
      <p:sp>
        <p:nvSpPr>
          <p:cNvPr id="5" name="Text 3"/>
          <p:cNvSpPr/>
          <p:nvPr/>
        </p:nvSpPr>
        <p:spPr>
          <a:xfrm>
            <a:off x="731520" y="393192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OPEN-SOURCE REPOSITORY</a:t>
            </a:r>
            <a:endParaRPr lang="en-US" sz="1000" dirty="0"/>
          </a:p>
        </p:txBody>
      </p:sp>
      <p:sp>
        <p:nvSpPr>
          <p:cNvPr id="6" name="Text 4"/>
          <p:cNvSpPr/>
          <p:nvPr/>
        </p:nvSpPr>
        <p:spPr>
          <a:xfrm>
            <a:off x="4114800" y="393192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https://github.com/Open-Hub-Tec/yucu</a:t>
            </a:r>
            <a:endParaRPr lang="en-US" sz="1200" dirty="0"/>
          </a:p>
        </p:txBody>
      </p:sp>
      <p:sp>
        <p:nvSpPr>
          <p:cNvPr id="7" name="Text 5"/>
          <p:cNvSpPr/>
          <p:nvPr/>
        </p:nvSpPr>
        <p:spPr>
          <a:xfrm>
            <a:off x="731520" y="457200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ACADEMIC INSTITUTION</a:t>
            </a:r>
            <a:endParaRPr lang="en-US" sz="1000" dirty="0"/>
          </a:p>
        </p:txBody>
      </p:sp>
      <p:sp>
        <p:nvSpPr>
          <p:cNvPr id="8" name="Text 6"/>
          <p:cNvSpPr/>
          <p:nvPr/>
        </p:nvSpPr>
        <p:spPr>
          <a:xfrm>
            <a:off x="4114800" y="457200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Open Hub TecNM · Instituto Tecnológico de Tlaxiaco, Oaxaca, Mexico</a:t>
            </a:r>
            <a:endParaRPr lang="en-US" sz="1200" dirty="0"/>
          </a:p>
        </p:txBody>
      </p:sp>
      <p:sp>
        <p:nvSpPr>
          <p:cNvPr id="9" name="Text 7"/>
          <p:cNvSpPr/>
          <p:nvPr/>
        </p:nvSpPr>
        <p:spPr>
          <a:xfrm>
            <a:off x="731520" y="521208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LEAD RESEARCHER</a:t>
            </a:r>
            <a:endParaRPr lang="en-US" sz="1000" dirty="0"/>
          </a:p>
        </p:txBody>
      </p:sp>
      <p:sp>
        <p:nvSpPr>
          <p:cNvPr id="10" name="Text 8"/>
          <p:cNvSpPr/>
          <p:nvPr/>
        </p:nvSpPr>
        <p:spPr>
          <a:xfrm>
            <a:off x="4114800" y="521208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Prof. José Alfredo Román Cruz · tecnologicotlaxiaco@gmail.com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Instituto Tecnológico de Tlaxiaco / Open Hub TecNM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Yucu Protocol - Stellar Soroban Pitch Deck</dc:title>
  <dc:subject>On-Chain Verifiable RWA Attestations &amp; Fair Escrow Infrastructure</dc:subject>
  <dc:creator>Prof. José Alfredo Román Cruz &amp; Open Hub TecNM</dc:creator>
  <cp:lastModifiedBy>Prof. José Alfredo Román Cruz &amp; Open Hub TecNM</cp:lastModifiedBy>
  <cp:revision>1</cp:revision>
  <dcterms:created xsi:type="dcterms:W3CDTF">2026-10-26T19:13:13Z</dcterms:created>
  <dcterms:modified xsi:type="dcterms:W3CDTF">2026-10-26T19:13:13Z</dcterms:modified>
</cp:coreProperties>
</file>